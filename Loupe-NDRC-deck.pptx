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is submitted as a PDF and read without anyone in the room —</a:t>
            </a:r>
          </a:p>
          <a:p>
            <a:r>
              <a:t>the form has no essay questions, so the cover is the highest-attention moment in the</a:t>
            </a:r>
          </a:p>
          <a:p>
            <a:r>
              <a:t>whole application and it has to earn the next page.</a:t>
            </a:r>
          </a:p>
          <a:p/>
          <a:p>
            <a:r>
              <a:t>"Find the signal in everything" is the tagline. The line under it is the argument, and</a:t>
            </a:r>
          </a:p>
          <a:p>
            <a:r>
              <a:t>it is the one sentence that frames every slide that follows.</a:t>
            </a:r>
          </a:p>
          <a:p/>
          <a:p>
            <a:r>
              <a:t>"In production use on real federal matters" is on the cover deliberately. A cold reader</a:t>
            </a:r>
          </a:p>
          <a:p>
            <a:r>
              <a:t>deciding whether to keep going is helped more by knowing this is not a concept than by</a:t>
            </a:r>
          </a:p>
          <a:p>
            <a:r>
              <a:t>anything else we could put there.</a:t>
            </a:r>
          </a:p>
          <a:p/>
          <a:p>
            <a:r>
              <a:t>If you ever present this live, drop to the tagline alone and say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the right to slide 4. Do not skip it.</a:t>
            </a:r>
          </a:p>
          <a:p/>
          <a:p>
            <a:r>
              <a:t>The two-halves finding is the whole competitive argument and it is structural, not a</a:t>
            </a:r>
          </a:p>
          <a:p>
            <a:r>
              <a:t>scoring artifact. Say the last line slowly — it converts the analysis from research</a:t>
            </a:r>
          </a:p>
          <a:p>
            <a:r>
              <a:t>into experience, and it is the one claim a panel cannot discount.</a:t>
            </a:r>
          </a:p>
          <a:p/>
          <a:p>
            <a:r>
              <a:t>If asked "who is the closest competitor?" the answer is Matey: same buyer, sells</a:t>
            </a:r>
          </a:p>
          <a:p>
            <a:r>
              <a:t>through NACDL and a state defence bar, holds SOC 2 Type II and ISO 27001 today. Say</a:t>
            </a:r>
          </a:p>
          <a:p>
            <a:r>
              <a:t>that before they find it. Then: none of the four has a graph, and that is eighteen</a:t>
            </a:r>
          </a:p>
          <a:p>
            <a:r>
              <a:t>months of work they can afford — which is exactly why the pilot and the certification</a:t>
            </a:r>
          </a:p>
          <a:p>
            <a:r>
              <a:t>work in the ask are urgent rather than nice to have.</a:t>
            </a:r>
          </a:p>
          <a:p/>
          <a:p>
            <a:r>
              <a:t>If asked about Harvey: over $1B raised, priced for the AmLaw 100 at ~$360k seat</a:t>
            </a:r>
          </a:p>
          <a:p>
            <a:r>
              <a:t>minimums, no evidence model. Not our fight and not our buyer.</a:t>
            </a:r>
          </a:p>
          <a:p/>
          <a:p>
            <a:r>
              <a:t>Do not name Siren here. If it comes up, it is a compliment: built for enterprise LE</a:t>
            </a:r>
          </a:p>
          <a:p>
            <a:r>
              <a:t>and intelligence buyers who come with solutions engineering attached, and good at</a:t>
            </a:r>
          </a:p>
          <a:p>
            <a:r>
              <a:t>that. A fifteen-person practice cannot buy the engineer — that tier is what we 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columns are the same case. That is the whole point of the slide —</a:t>
            </a:r>
          </a:p>
          <a:p>
            <a:r>
              <a:t>it is not a claim about savings in the abstract, it is one matter costed twice.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a forensic vendor per device, processing and hosting charged</a:t>
            </a:r>
          </a:p>
          <a:p>
            <a:r>
              <a:t>per gigabyte per MONTH for the life of the matter, an examiner by the hour, and their</a:t>
            </a:r>
          </a:p>
          <a:p>
            <a:r>
              <a:t>own people stitching it together.</a:t>
            </a:r>
          </a:p>
          <a:p/>
          <a:p>
            <a:r>
              <a:t>Hosting is the line that breaks. A 435GB federal case is $4,350 a month, every month,</a:t>
            </a:r>
          </a:p>
          <a:p>
            <a:r>
              <a:t>and the outcome that money buys is a spreadsheet. If one number lands, make it that.</a:t>
            </a:r>
          </a:p>
          <a:p/>
          <a:p>
            <a:r>
              <a:t>CONCEDE THE EXTRACTION BILL OUT LOUD. Devices still go to a vendor and we do not</a:t>
            </a:r>
          </a:p>
          <a:p>
            <a:r>
              <a:t>displace that. Saying so is what makes the other numbers credible.</a:t>
            </a:r>
          </a:p>
          <a:p/>
          <a:p>
            <a:r>
              <a:t>Provenance if pressed: published 2026 rates — eDiscovery processing $3-10/GB and</a:t>
            </a:r>
          </a:p>
          <a:p>
            <a:r>
              <a:t>hosting $5-15/GB/month from the Winter 2026 pricing survey; forensic vendor rate</a:t>
            </a:r>
          </a:p>
          <a:p>
            <a:r>
              <a:t>cards; examiner analysis $300-500/h; case hours from RAND's National Public Defense</a:t>
            </a:r>
          </a:p>
          <a:p>
            <a:r>
              <a:t>Workload Study; investigator $85-225/h, paralegal $100-200/h. The single modelled</a:t>
            </a:r>
          </a:p>
          <a:p>
            <a:r>
              <a:t>assumption is the share of case hours that is evidence handling, and that half of it</a:t>
            </a:r>
          </a:p>
          <a:p>
            <a:r>
              <a:t>goes. Say so plainly — do not present it as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246120"/>
            <a:ext cx="10637215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Everyone can cite a document. Nobody can query a case.</a:t>
            </a:r>
          </a:p>
          <a:p>
            <a:pPr algn="l">
              <a:lnSpc>
                <a:spcPct val="128000"/>
              </a:lnSpc>
              <a:spcBef>
                <a:spcPts val="20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An investigation platform for fraud and criminal casework — in production use on real federal matters.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603504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9DA5"/>
                </a:solidFill>
                <a:latin typeface="IBM Plex Sans"/>
              </a:rPr>
              <a:t>And the tools that could hold it throw it away.</a:t>
            </a:r>
            <a:r>
              <a:rPr sz="1300" b="0" i="0">
                <a:solidFill>
                  <a:srgbClr val="9A9DA5"/>
                </a:solidFill>
                <a:latin typeface="IBM Plex Sans"/>
              </a:rPr>
              <a:t> Relativity's own processing documentation says call logs emerge “only as call log data in Excel format, not as individual records,” and that multi-device extractions are unsupported. Everlaw splits conversations every thousand messages; Reveal slices them into 24-hour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The category converged on cited answers — and stopped there.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 Relativity folded aiR into its base rate in November 2025; Everlaw bundled three AI features into core pricing the same month; DISCO announced agentic AI at no extra cost in February 2026. Everyone can cite a document. Nobody modelled the 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That is the gap Loupe was built into: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layer underneath the answer — a model of the whole case, so a question can be put to all of it at once.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a model of the whole case and returns the complete matching set — every claim cited, and the citation covers all of it, not a sample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22860" marB="22860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22860" marB="2286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50992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models all of it — and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Forty-seven platforms. The intersection is empty.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2996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We assessed the category on thirty axes before we built. It splits into two halves that never meet — and the buyer sits in the gap between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 model the evidence — and won't sell it to you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Cellebrite · Magnet · Palantir · Pathfinder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They own the extraction and build real graphs. Pathfinder is sold only to law enforcement and intelligence; GrayKey not to the private sector at all. What a practice can buy is examiner tooling — five kinds of device, no kinds of document.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They'll sell to you — and treat a phone as an attachment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Relativity · Everlaw · DISCO · Reveal · Harvey · CoCounsel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Excellent at documents, purchasable, and the phone data does not survive the door. Call logs emerge as Excel, conversations are split every thousand messages, multi-device extractions are unsupported.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615184"/>
            <a:ext cx="3520440" cy="2706624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8472" y="2734056"/>
            <a:ext cx="3191256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7F7F8"/>
                </a:solidFill>
                <a:latin typeface="Space Grotesk"/>
              </a:rPr>
              <a:t>Same buyer as us — and no case model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E33B4C"/>
                </a:solidFill>
                <a:latin typeface="IBM Plex Mono"/>
              </a:rPr>
              <a:t>TrialKit · Matey · JusticeText · Longeye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Four funded companies selling AI to criminal defence, $2.5–7.5M seed each, with the bar associations and the certifications.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None of them has a graph.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All four answer by retrieval — which returns what looked relevant and cannot tell you what it missed.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On a defence matter the thing you never saw is the thing that loses the case.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468112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7F7F8"/>
                </a:solidFill>
                <a:latin typeface="IBM Plex Sans"/>
              </a:rPr>
              <a:t>Not one of the forty-seven holds device data, financial records and documents in a single model</a:t>
            </a:r>
            <a:r>
              <a:rPr sz="1450" b="0" i="0">
                <a:solidFill>
                  <a:srgbClr val="F7F7F8"/>
                </a:solidFill>
                <a:latin typeface="IBM Plex Sans"/>
              </a:rPr>
              <a:t> — and that is structural, not an accident of scoring. Modelling evidence and serving this buyer are different problems sold to different customers.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 i="0">
                <a:solidFill>
                  <a:srgbClr val="E33B4C"/>
                </a:solidFill>
                <a:latin typeface="IBM Plex Sans"/>
              </a:rPr>
              <a:t>We know because we went looking for a platform to run live federal casework,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How many of them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48,000–125,000 evidence-heavy private criminal-defence matters run in the US every year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, across a target population of one to five thousand practices. The UK adds ~80,200 open Crown Court cases, rising.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buyer receives evidence, cannot collect it, and cannot buy the analytics the other side runs 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That is the whole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Today a serious case costs $38–139k.
With Loupe, $16–20k.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042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Same case, same evidence, both columns. Ranges run from a two-phone fraud matter to a ten-phone federal case.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834640"/>
          <a:ext cx="1063447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423160"/>
                <a:gridCol w="2450592"/>
              </a:tblGrid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Per serious case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9A9DA5"/>
                          </a:solidFill>
                          <a:latin typeface="IBM Plex Sans"/>
                        </a:rPr>
                        <a:t>Today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E33B4C"/>
                          </a:solidFill>
                          <a:latin typeface="IBM Plex Sans"/>
                        </a:rPr>
                        <a:t>With Loupe</a:t>
                      </a:r>
                    </a:p>
                  </a:txBody>
                  <a:tcPr marL="109728" marT="36576" marB="36576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Forensic extraction — devices still go to a vendor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$3,650 – 8,450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Processing, hosting and examiner analysis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$34,200 – 130,575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Loupe, per matter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—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$12,000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Cash per case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$37,850 – 139,025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F7F7F8"/>
                          </a:solidFill>
                          <a:latin typeface="IBM Plex Sans"/>
                        </a:rPr>
                        <a:t>$15,650 – 20,450</a:t>
                      </a:r>
                    </a:p>
                  </a:txBody>
                  <a:tcPr marL="109728" marT="45720" marB="45720">
                    <a:solidFill>
                      <a:srgbClr val="11121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F7F7F8"/>
                          </a:solidFill>
                          <a:latin typeface="IBM Plex Sans"/>
                        </a:rPr>
                        <a:t>Investigator and paralegal hours on evidence handling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9A9DA5"/>
                          </a:solidFill>
                          <a:latin typeface="IBM Plex Sans"/>
                        </a:rPr>
                        <a:t>58 – 100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i="0">
                          <a:solidFill>
                            <a:srgbClr val="E33B4C"/>
                          </a:solidFill>
                          <a:latin typeface="IBM Plex Sans"/>
                        </a:rPr>
                        <a:t>29 – 50 hrs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285232"/>
            <a:ext cx="1063721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7F7F8"/>
                </a:solidFill>
                <a:latin typeface="IBM Plex Sans"/>
              </a:rPr>
              <a:t>Saved: $22,000–119,000 and 29–50 hours per case.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Across a practice running fifteen to thirty serious matters a year, that is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$0.6–1.4M and 550–1,150 hours returned.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The extraction bill is unchanged — we analyse what was produced, we do not acquire it. Everything downstream of it is what we replace.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61888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7F7F8"/>
                </a:solidFill>
                <a:latin typeface="IBM Plex Sans"/>
              </a:rPr>
              <a:t>Each stage is gated on one thing, which is what makes the sequence testable.</a:t>
            </a:r>
            <a:r>
              <a:rPr sz="1250" b="0" i="0">
                <a:solidFill>
                  <a:srgbClr val="F7F7F8"/>
                </a:solidFill>
                <a:latin typeface="IBM Plex Sans"/>
              </a:rPr>
              <a:t> Stage 1: a price validated on real matters. Stage 2: the bar-association channel converting. Stage 3: the per-matter model rebuilt on UK vendor and Legal Aid Agency rates. Stage 4: partners, because every jurisdiction carries its own procedure and disclosure regime.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53328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Federal cases carried to completion — multi-gigabyte phone extractions, tens of thousands of curated financial transactions, full document corpora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A React console, a FastAPI case API and a separate asynchronous evidence engine, built since December 2025 by two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 — the cost model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