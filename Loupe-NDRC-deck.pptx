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is submitted as a PDF and read without anyone in the room —</a:t>
            </a:r>
          </a:p>
          <a:p>
            <a:r>
              <a:t>the form has no essay questions, so the cover is the highest-attention moment in the</a:t>
            </a:r>
          </a:p>
          <a:p>
            <a:r>
              <a:t>whole application and it has to earn the next page.</a:t>
            </a:r>
          </a:p>
          <a:p/>
          <a:p>
            <a:r>
              <a:t>"Find the signal in everything" is the tagline and it sits under the wordmark, where a</a:t>
            </a:r>
          </a:p>
          <a:p>
            <a:r>
              <a:t>tagline belongs.</a:t>
            </a:r>
          </a:p>
          <a:p/>
          <a:p>
            <a:r>
              <a:t>The two display lines are one statement in two parts, and the order matters. The first</a:t>
            </a:r>
          </a:p>
          <a:p>
            <a:r>
              <a:t>says what Loupe IS, so a reader who knows nothing has something to hold. The second is</a:t>
            </a:r>
          </a:p>
          <a:p>
            <a:r>
              <a:t>the argument, and it frames every slide that follows — it is also the line the whole</a:t>
            </a:r>
          </a:p>
          <a:p>
            <a:r>
              <a:t>competitive analysis is built on. Read the other way round, the argument arrives before</a:t>
            </a:r>
          </a:p>
          <a:p>
            <a:r>
              <a:t>the reader knows what they are looking at.</a:t>
            </a:r>
          </a:p>
          <a:p/>
          <a:p>
            <a:r>
              <a:t>"In production use on real federal matters" is on the cover deliberately. A cold reader</a:t>
            </a:r>
          </a:p>
          <a:p>
            <a:r>
              <a:t>deciding whether to keep going is helped more by knowing this is not a concept than by</a:t>
            </a:r>
          </a:p>
          <a:p>
            <a:r>
              <a:t>anything else we could put there.</a:t>
            </a:r>
          </a:p>
          <a:p/>
          <a:p>
            <a:r>
              <a:t>If you ever present this live, drop to the tagline alone and say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 STORY — this is your strongest beat.</a:t>
            </a:r>
          </a:p>
          <a:p/>
          <a:p>
            <a:r>
              <a:t>"We tried to buy it, it failed on a live case, so we built it" is behavioural</a:t>
            </a:r>
          </a:p>
          <a:p>
            <a:r>
              <a:t>evidence of a market gap. It outranks any number of stated-preference</a:t>
            </a:r>
          </a:p>
          <a:p>
            <a:r>
              <a:t>interviews, and investors know it.</a:t>
            </a:r>
          </a:p>
          <a:p/>
          <a:p>
            <a:r>
              <a:t>Between us we have seen this problem from both sides: seven years building</a:t>
            </a:r>
          </a:p>
          <a:p>
            <a:r>
              <a:t>investigative-intelligence software for enterprise buyers, and a decade running</a:t>
            </a:r>
          </a:p>
          <a:p>
            <a:r>
              <a:t>federal casework as an investigator using it. When our CPO needed a platform for</a:t>
            </a:r>
          </a:p>
          <a:p>
            <a:r>
              <a:t>live federal casework we went looking for one, evaluated an existing</a:t>
            </a:r>
          </a:p>
          <a:p>
            <a:r>
              <a:t>investigative intelligence platform against a real case, and it could not work</a:t>
            </a:r>
          </a:p>
          <a:p>
            <a:r>
              <a:t>the case the way a real investigation needs.</a:t>
            </a:r>
          </a:p>
          <a:p/>
          <a:p>
            <a:r>
              <a:t>DELIBERATELY NOT SAID: anything about what you personally built for a former</a:t>
            </a:r>
          </a:p>
          <a:p>
            <a:r>
              <a:t>employer's customers, or any suggestion that Loupe derives from it. Your CV</a:t>
            </a:r>
          </a:p>
          <a:p>
            <a:r>
              <a:t>stands on its own on slide 7.</a:t>
            </a:r>
          </a:p>
          <a:p/>
          <a:p>
            <a:r>
              <a:t>JUDGEMENT CALLS</a:t>
            </a:r>
          </a:p>
          <a:p>
            <a:r>
              <a:t>1. Name Octostar or not. Naming is more credible; vagueness gets discounted.</a:t>
            </a:r>
          </a:p>
          <a:p>
            <a:r>
              <a:t>   Only name it if ready for "what specifically failed?" — have that answer</a:t>
            </a:r>
          </a:p>
          <a:p>
            <a:r>
              <a:t>   written down before you present.</a:t>
            </a:r>
          </a:p>
          <a:p>
            <a:r>
              <a:t>2. NEVER let Siren be the platform that failed. That was a different platform.</a:t>
            </a:r>
          </a:p>
          <a:p>
            <a:r>
              <a:t>   Siren is Irish, EI-backed, Dublin is small. When Siren comes up it is a</a:t>
            </a:r>
          </a:p>
          <a:p>
            <a:r>
              <a:t>   credential and a compliment: very good at what it is built for — enterprise</a:t>
            </a:r>
          </a:p>
          <a:p>
            <a:r>
              <a:t>   LE and intelligence buyers who arrive with budget for configuration and</a:t>
            </a:r>
          </a:p>
          <a:p>
            <a:r>
              <a:t>   support. You are not competing with it and not criticising it. You are</a:t>
            </a:r>
          </a:p>
          <a:p>
            <a:r>
              <a:t>   serving a tier its model was never aimed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6% stat is the strongest number in your material. The entire</a:t>
            </a:r>
          </a:p>
          <a:p>
            <a:r>
              <a:t>product is an answer to it.</a:t>
            </a:r>
          </a:p>
          <a:p/>
          <a:p>
            <a:r>
              <a:t>Say it, pause, then move to slide 4 and show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has three beats. Say them in order and do not add a fourth.</a:t>
            </a:r>
          </a:p>
          <a:p/>
          <a:p>
            <a:r>
              <a:t>ONE — everything goes in. Phone extractions, call logs, documents, images, audio,</a:t>
            </a:r>
          </a:p>
          <a:p>
            <a:r>
              <a:t>financial records. Resolved at ingestion into one model, not stored as files</a:t>
            </a:r>
          </a:p>
          <a:p>
            <a:r>
              <a:t>alongside each other.</a:t>
            </a:r>
          </a:p>
          <a:p/>
          <a:p>
            <a:r>
              <a:t>TWO — one model, read five ways. Financial explorer, multi-phone view, timeline,</a:t>
            </a:r>
          </a:p>
          <a:p>
            <a:r>
              <a:t>graph, agent query. These are not five features; they are five perspectives on the</a:t>
            </a:r>
          </a:p>
          <a:p>
            <a:r>
              <a:t>same structure, which is why a finding in one is the same object in another.</a:t>
            </a:r>
          </a:p>
          <a:p/>
          <a:p>
            <a:r>
              <a:t>THREE — and this is the beat that is usually undersold. The investigator finds</a:t>
            </a:r>
          </a:p>
          <a:p>
            <a:r>
              <a:t>what matters and binds it into a Loupe. Loupes move into the case, and the case is</a:t>
            </a:r>
          </a:p>
          <a:p>
            <a:r>
              <a:t>BUILT out of them. That is the difference between a tool that answers questions and</a:t>
            </a:r>
          </a:p>
          <a:p>
            <a:r>
              <a:t>a tool that produces the work product. Every competitor's collection holds documents</a:t>
            </a:r>
          </a:p>
          <a:p>
            <a:r>
              <a:t>and facts derived from documents; a Loupe can hold a call, a transfer and a location</a:t>
            </a:r>
          </a:p>
          <a:p>
            <a:r>
              <a:t>as members.</a:t>
            </a:r>
          </a:p>
          <a:p/>
          <a:p>
            <a:r>
              <a:t>Do not say the product is named after them — it adds nothing and costs a sentence.</a:t>
            </a:r>
          </a:p>
          <a:p/>
          <a:p>
            <a:r>
              <a:t>Screenshots: the right-hand one is the whole pitch. Capture it with the result graph</a:t>
            </a:r>
          </a:p>
          <a:p>
            <a:r>
              <a:t>visible beside the cited text. DO NOT LEAD WITH THE CASE GRAPH as a hairball.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HUMAN JUDGMENT row is the one that answers the question a</a:t>
            </a:r>
          </a:p>
          <a:p>
            <a:r>
              <a:t>technical investor is actually holding: what stops Microsoft GraphRAG</a:t>
            </a:r>
          </a:p>
          <a:p>
            <a:r>
              <a:t>commoditising this in eighteen months? Extraction pipelines will commoditise.</a:t>
            </a:r>
          </a:p>
          <a:p>
            <a:r>
              <a:t>A durable, evidenced record of what an investigator decided mattered, and why,</a:t>
            </a:r>
          </a:p>
          <a:p>
            <a:r>
              <a:t>does not — it accrues per customer, per case, and is worthless to a competitor.</a:t>
            </a:r>
          </a:p>
          <a:p/>
          <a:p>
            <a:r>
              <a:t>THE OBJECTION YOU WILL ACTUALLY GET is not from investors, it's from buyers:</a:t>
            </a:r>
          </a:p>
          <a:p>
            <a:r>
              <a:t>"can't I just do this with a $20 Claude subscription?" You have heard it</a:t>
            </a:r>
          </a:p>
          <a:p>
            <a:r>
              <a:t>directly. Rehearsed answer:</a:t>
            </a:r>
          </a:p>
          <a:p/>
          <a:p>
            <a:r>
              <a:t>  A $20 subscription reads what fits in one conversation and forgets it. It</a:t>
            </a:r>
          </a:p>
          <a:p>
            <a:r>
              <a:t>  cannot hold a 35GB phone extraction, it has no persistent case model, it</a:t>
            </a:r>
          </a:p>
          <a:p>
            <a:r>
              <a:t>  gives you prose instead of citations, and it puts privileged evidence on a</a:t>
            </a:r>
          </a:p>
          <a:p>
            <a:r>
              <a:t>  multi-tenant service. The reason a case costs real money to process is the</a:t>
            </a:r>
          </a:p>
          <a:p>
            <a:r>
              <a:t>  same reason the answer is trustworthy: we read EVERYTHING, not a sample.</a:t>
            </a:r>
          </a:p>
          <a:p/>
          <a:p>
            <a:r>
              <a:t>That last line converts your cost structure from a weakness into proof of the</a:t>
            </a:r>
          </a:p>
          <a:p>
            <a:r>
              <a:t>claim. Use it.</a:t>
            </a:r>
          </a:p>
          <a:p/>
          <a:p>
            <a:r>
              <a:t>THE AGENT — the "What the AI does" row. Loupe's AI does not just answer; it runs</a:t>
            </a:r>
          </a:p>
          <a:p>
            <a:r>
              <a:t>tools against the case model: groups transactions, generates visualisations, drafts</a:t>
            </a:r>
          </a:p>
          <a:p>
            <a:r>
              <a:t>outputs, and ASSEMBLES LOUPES FROM A PLAIN-ENGLISH INSTRUCTION. That matters because</a:t>
            </a:r>
          </a:p>
          <a:p>
            <a:r>
              <a:t>your buyer is making a LABOUR-SUBSTITUTION purchase — the ex-FBI prospect benchmarked</a:t>
            </a:r>
          </a:p>
          <a:p>
            <a:r>
              <a:t>price against the cost of a junior investigator. A Q&amp;A box does not substitute for a</a:t>
            </a:r>
          </a:p>
          <a:p>
            <a:r>
              <a:t>junior. Something that produces the work does.</a:t>
            </a:r>
          </a:p>
          <a:p/>
          <a:p>
            <a:r>
              <a:t>THE STRONGEST VERSION IS NOT "IT RUNS TOOLS" — it's that the unit of work stops being</a:t>
            </a:r>
          </a:p>
          <a:p>
            <a:r>
              <a:t>a query and becomes a HYPOTHESIS. The investigator doesn't arrive at a search box with</a:t>
            </a:r>
          </a:p>
          <a:p>
            <a:r>
              <a:t>a question; they arrive at a blank page and start building the scenarios they need to</a:t>
            </a:r>
          </a:p>
          <a:p>
            <a:r>
              <a:t>test — and the agent assembles the evidence for each one, or shows them it isn't there.</a:t>
            </a:r>
          </a:p>
          <a:p>
            <a:r>
              <a:t>That also closes the loop with slide 4: the Loupe is the namesake object AND the thing</a:t>
            </a:r>
          </a:p>
          <a:p>
            <a:r>
              <a:t>the agent produces, so the moat argument and the agent argument become one argument.</a:t>
            </a:r>
          </a:p>
          <a:p/>
          <a:p>
            <a:r>
              <a:t>  IN YOUR POCKET: "An investigator doesn't have questions, they have theories. Loupe</a:t>
            </a:r>
          </a:p>
          <a:p>
            <a:r>
              <a:t>  is the first tool where the unit of work is a hypothesis rather than a query — you</a:t>
            </a:r>
          </a:p>
          <a:p>
            <a:r>
              <a:t>  describe the scenario you want to test, and the agent builds the Loupe that proves</a:t>
            </a:r>
          </a:p>
          <a:p>
            <a:r>
              <a:t>  or breaks it."</a:t>
            </a:r>
          </a:p>
          <a:p/>
          <a:p>
            <a:r>
              <a:t>  Do NOT use "show me all companies" as the example. That's a saved view, not a</a:t>
            </a:r>
          </a:p>
          <a:p>
            <a:r>
              <a:t>  hypothesis, and it makes the capability sound like faceted search.</a:t>
            </a:r>
          </a:p>
          <a:p/>
          <a:p>
            <a:r>
              <a:t>Two rules when you talk about it:</a:t>
            </a:r>
          </a:p>
          <a:p/>
          <a:p>
            <a:r>
              <a:t>  1. NAME TWO OR THREE CONCRETE OUTPUTS, never "it can do anything." Unbounded</a:t>
            </a:r>
          </a:p>
          <a:p>
            <a:r>
              <a:t>     capability reads as unfocused and gets discounted to zero.</a:t>
            </a:r>
          </a:p>
          <a:p>
            <a:r>
              <a:t>  2. PITCH BOUNDED AGENCY, NOT AUTONOMY. Your market is criminal defence. The</a:t>
            </a:r>
          </a:p>
          <a:p>
            <a:r>
              <a:t>     instant you say "agent that does the work," a domain-aware listener asks what</a:t>
            </a:r>
          </a:p>
          <a:p>
            <a:r>
              <a:t>     happens when it's wrong and who signs their name to it. Answer first:</a:t>
            </a:r>
          </a:p>
          <a:p/>
          <a:p>
            <a:r>
              <a:t>       The agent runs tools across the case, but it cannot invent a fact.</a:t>
            </a:r>
          </a:p>
          <a:p>
            <a:r>
              <a:t>       Everything it produces is built from grounded claims that carry their</a:t>
            </a:r>
          </a:p>
          <a:p>
            <a:r>
              <a:t>       source, and nothing leaves the system without a human verifying it.</a:t>
            </a:r>
          </a:p>
          <a:p/>
          <a:p>
            <a:r>
              <a:t>  And if asked whether the agent is just the model, and therefore commoditising:</a:t>
            </a:r>
          </a:p>
          <a:p>
            <a:r>
              <a:t>  THE TOOLS ARE THE MOAT, NOT THE AGENT. A generic agent over a folder of PDFs</a:t>
            </a:r>
          </a:p>
          <a:p>
            <a:r>
              <a:t>  produces confident garbage. The same agent over a grounded claims ledger and a</a:t>
            </a:r>
          </a:p>
          <a:p>
            <a:r>
              <a:t>  set of Loupes produces work you can check. What it can reach is the product.</a:t>
            </a:r>
          </a:p>
          <a:p/>
          <a:p>
            <a:r>
              <a:t>THE LINE TO USE: "Question-answering AI tells you about your evidence. An agent with</a:t>
            </a:r>
          </a:p>
          <a:p>
            <a:r>
              <a:t>tools produces the work product." Eleven words, and it converts the agent from a</a:t>
            </a:r>
          </a:p>
          <a:p>
            <a:r>
              <a:t>feature into a category distinction.</a:t>
            </a:r>
          </a:p>
          <a:p/>
          <a:p>
            <a:r>
              <a:t>SAFE GROUND — the toolbox, all of it plainly built: case overview, graph entity</a:t>
            </a:r>
          </a:p>
          <a:p>
            <a:r>
              <a:t>search, schema inspection, entity details and neighbourhoods, pathfinding, full-text</a:t>
            </a:r>
          </a:p>
          <a:p>
            <a:r>
              <a:t>document search, timeline events, financial records, map locations, and safe</a:t>
            </a:r>
          </a:p>
          <a:p>
            <a:r>
              <a:t>read-only Cypher for grouping and aggregation. Specific, checkable, and enough to win</a:t>
            </a:r>
          </a:p>
          <a:p>
            <a:r>
              <a:t>on its own. Two behaviours worth saying out loud in a defence market: the agent ASKS</a:t>
            </a:r>
          </a:p>
          <a:p>
            <a:r>
              <a:t>FOR CLARIFICATION rather than guessing, and IT PROPOSES WHILE THE INVESTIGATOR</a:t>
            </a:r>
          </a:p>
          <a:p>
            <a:r>
              <a:t>DISPOSES — merges and case changes stay under human control. Those describe a</a:t>
            </a:r>
          </a:p>
          <a:p>
            <a:r>
              <a:t>mechanism, not an intention, which is what the courtroom question is really asking for.</a:t>
            </a:r>
          </a:p>
          <a:p/>
          <a:p>
            <a:r>
              <a:t>THE HYPOTHESIS WORKBENCH — landing before submission. Assembling a Loupe from a</a:t>
            </a:r>
          </a:p>
          <a:p>
            <a:r>
              <a:t>scenario, hunting what breaks the theory, enumerating what's missing, standing</a:t>
            </a:r>
          </a:p>
          <a:p>
            <a:r>
              <a:t>hypotheses that re-evaluate. These are the most quotable claims you have, which makes</a:t>
            </a:r>
          </a:p>
          <a:p>
            <a:r>
              <a:t>them the ones you get asked to demo. One rule: don't say it until it has demoed clean</a:t>
            </a:r>
          </a:p>
          <a:p>
            <a:r>
              <a:t>once. Anything not landed on submission day becomes the roadmap answer — the toolbox</a:t>
            </a:r>
          </a:p>
          <a:p>
            <a:r>
              <a:t>above carries the pitch without it. Blocker 5g.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earns the right to slide 4. Do not skip it.</a:t>
            </a:r>
          </a:p>
          <a:p/>
          <a:p>
            <a:r>
              <a:t>The two-halves finding is the whole competitive argument and it is structural, not a</a:t>
            </a:r>
          </a:p>
          <a:p>
            <a:r>
              <a:t>scoring artifact. Say the last line slowly — it converts the analysis from research</a:t>
            </a:r>
          </a:p>
          <a:p>
            <a:r>
              <a:t>into experience, and it is the one claim a panel cannot discount.</a:t>
            </a:r>
          </a:p>
          <a:p/>
          <a:p>
            <a:r>
              <a:t>If asked "who is the closest competitor?" the answer is Matey: same buyer, sells</a:t>
            </a:r>
          </a:p>
          <a:p>
            <a:r>
              <a:t>through NACDL and a state defence bar, holds SOC 2 Type II and ISO 27001 today. Say</a:t>
            </a:r>
          </a:p>
          <a:p>
            <a:r>
              <a:t>that before they find it. Then: none of the four has a graph, and that is eighteen</a:t>
            </a:r>
          </a:p>
          <a:p>
            <a:r>
              <a:t>months of work they can afford — which is exactly why the pilot and the certification</a:t>
            </a:r>
          </a:p>
          <a:p>
            <a:r>
              <a:t>work in the ask are urgent rather than nice to have.</a:t>
            </a:r>
          </a:p>
          <a:p/>
          <a:p>
            <a:r>
              <a:t>If asked about Harvey: over $1B raised, priced for the AmLaw 100 at ~$360k seat</a:t>
            </a:r>
          </a:p>
          <a:p>
            <a:r>
              <a:t>minimums, no evidence model. Not our fight and not our buyer.</a:t>
            </a:r>
          </a:p>
          <a:p/>
          <a:p>
            <a:r>
              <a:t>Do not name Siren here. If it comes up, it is a compliment: built for enterprise LE</a:t>
            </a:r>
          </a:p>
          <a:p>
            <a:r>
              <a:t>and intelligence buyers who come with solutions engineering attached, and good at</a:t>
            </a:r>
          </a:p>
          <a:p>
            <a:r>
              <a:t>that. A fifteen-person practice cannot buy the engineer — that tier is what we 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sizing is desk research, not primary — label it as such.</a:t>
            </a:r>
          </a:p>
          <a:p>
            <a:r>
              <a:t>Global forensic accounting ~$18–20B, US ~$10.5B, highly fragmented.</a:t>
            </a:r>
          </a:p>
          <a:p/>
          <a:p>
            <a:r>
              <a:t>A SECOND USE CASE surfaced in discovery and may be the better wedge:</a:t>
            </a:r>
          </a:p>
          <a:p>
            <a:r>
              <a:t>PRE-ENGAGEMENT TRIAGE. A PI-firm CEO (ex-FBI, Tampa Bay) described her sharpest</a:t>
            </a:r>
          </a:p>
          <a:p>
            <a:r>
              <a:t>pain as upstream of casework — free 15-minute consultations, large document sets</a:t>
            </a:r>
          </a:p>
          <a:p>
            <a:r>
              <a:t>from prospects, deciding whether to take the matter without burning senior</a:t>
            </a:r>
          </a:p>
          <a:p>
            <a:r>
              <a:t>hours. Also: 15 audio recordings needing a summary.</a:t>
            </a:r>
          </a:p>
          <a:p/>
          <a:p>
            <a:r>
              <a:t>Why it matters: it sits on prospect intake material, NOT privileged evidence —</a:t>
            </a:r>
          </a:p>
          <a:p>
            <a:r>
              <a:t>so it can be sold BEFORE the security gate closes. Obvious ROI denominator</a:t>
            </a:r>
          </a:p>
          <a:p>
            <a:r>
              <a:t>(senior hours replaced). Natural front door into the same firm's casework.</a:t>
            </a:r>
          </a:p>
          <a:p/>
          <a:p>
            <a:r>
              <a:t>It also reframes the buyer. She was not buying a tool for herself — she was</a:t>
            </a:r>
          </a:p>
          <a:p>
            <a:r>
              <a:t>asking whether it makes her JUNIOR investigators effective, benchmarked against</a:t>
            </a:r>
          </a:p>
          <a:p>
            <a:r>
              <a:t>the cost of a junior investigator or overseas staff. That is a</a:t>
            </a:r>
          </a:p>
          <a:p>
            <a:r>
              <a:t>labour-substitution sale, not a software-features sale.</a:t>
            </a:r>
          </a:p>
          <a:p/>
          <a:p>
            <a:r>
              <a:t>WHAT REMAINS OPEN: what does a 10–50 person practice actually pay, and through</a:t>
            </a:r>
          </a:p>
          <a:p>
            <a:r>
              <a:t>what mechanism — per-matter passed through to the client, or per-seat licence?</a:t>
            </a:r>
          </a:p>
          <a:p>
            <a:r>
              <a:t>The ex-FBI prospect declined to name a price before using the product ("I would</a:t>
            </a:r>
          </a:p>
          <a:p>
            <a:r>
              <a:t>have to use it before I could answer that appropriately"). She is aware of the</a:t>
            </a:r>
          </a:p>
          <a:p>
            <a:r>
              <a:t>~$25k/licence reference point and open to a mutual MSA at low cost, low risk.</a:t>
            </a:r>
          </a:p>
          <a:p>
            <a:r>
              <a:t>Other anchors: Valid8 ~$42k/yr, CaseWare IDEA.</a:t>
            </a:r>
          </a:p>
          <a:p/>
          <a:p>
            <a:r>
              <a:t>The pricing question is closed by running a paid pilot, not by booking more</a:t>
            </a:r>
          </a:p>
          <a:p>
            <a:r>
              <a:t>calls — which is exactly what slide 9 asks NDRC to fund.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columns are the same case. That is the whole point of the slide —</a:t>
            </a:r>
          </a:p>
          <a:p>
            <a:r>
              <a:t>it is not a claim about savings in the abstract, it is one matter costed twice.</a:t>
            </a:r>
          </a:p>
          <a:p/>
          <a:p>
            <a:r>
              <a:t>The buyer is not choosing between us and a competitor. They are choosing between us</a:t>
            </a:r>
          </a:p>
          <a:p>
            <a:r>
              <a:t>and what they do today: a forensic vendor per device, processing and hosting charged</a:t>
            </a:r>
          </a:p>
          <a:p>
            <a:r>
              <a:t>per gigabyte per MONTH for the life of the matter, an examiner by the hour, and their</a:t>
            </a:r>
          </a:p>
          <a:p>
            <a:r>
              <a:t>own people stitching it together.</a:t>
            </a:r>
          </a:p>
          <a:p/>
          <a:p>
            <a:r>
              <a:t>Hosting is the line that breaks. A 435GB federal case is $4,350 a month, every month,</a:t>
            </a:r>
          </a:p>
          <a:p>
            <a:r>
              <a:t>and the outcome that money buys is a spreadsheet. If one number lands, make it that.</a:t>
            </a:r>
          </a:p>
          <a:p/>
          <a:p>
            <a:r>
              <a:t>CONCEDE THE EXTRACTION BILL OUT LOUD. Devices still go to a vendor and we do not</a:t>
            </a:r>
          </a:p>
          <a:p>
            <a:r>
              <a:t>displace that. Saying so is what makes the other numbers credible.</a:t>
            </a:r>
          </a:p>
          <a:p/>
          <a:p>
            <a:r>
              <a:t>Provenance if pressed: published 2026 rates — eDiscovery processing $3-10/GB and</a:t>
            </a:r>
          </a:p>
          <a:p>
            <a:r>
              <a:t>hosting $5-15/GB/month from the Winter 2026 pricing survey; forensic vendor rate</a:t>
            </a:r>
          </a:p>
          <a:p>
            <a:r>
              <a:t>cards; examiner analysis $300-500/h; case hours from RAND's National Public Defense</a:t>
            </a:r>
          </a:p>
          <a:p>
            <a:r>
              <a:t>Workload Study; investigator $85-225/h, paralegal $100-200/h. The single modelled</a:t>
            </a:r>
          </a:p>
          <a:p>
            <a:r>
              <a:t>assumption is the share of case hours that is evidence handling, and that half of it</a:t>
            </a:r>
          </a:p>
          <a:p>
            <a:r>
              <a:t>goes. Say so plainly — do not present it as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is the middle two rows, not the ARR. 104 customers running 833 matters is under two per cent of the US evidence-heavy pool alone, before the UK or Europe contribute anything. Against one to five thousand target practices, none of these stages asks for market dominance — they ask for a channel that works and a price that holds. Each stage is gated on one thing: stage 1 a validated price, stage 2 the bar channel converting, stage 3 the model rebuilt on UK rates, stage 4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SIREN. It is the strongest founder-market-fit signal you</a:t>
            </a:r>
          </a:p>
          <a:p>
            <a:r>
              <a:t>have. NDRC will know Siren — Irish, Enterprise Ireland-backed, same category. It</a:t>
            </a:r>
          </a:p>
          <a:p>
            <a:r>
              <a:t>converts you from "engineer who built a thing" to "category-native founder who</a:t>
            </a:r>
          </a:p>
          <a:p>
            <a:r>
              <a:t>has seen this market's buying behaviour for seven years." It pre-answers the</a:t>
            </a:r>
          </a:p>
          <a:p>
            <a:r>
              <a:t>sales-cycle and procurement questions before they're asked.</a:t>
            </a:r>
          </a:p>
          <a:p/>
          <a:p>
            <a:r>
              <a:t>"Full-time on close" appears twice on purpose. Say it out loud as well as</a:t>
            </a:r>
          </a:p>
          <a:p>
            <a:r>
              <a:t>printing it.</a:t>
            </a:r>
          </a:p>
          <a:p/>
          <a:p>
            <a:r>
              <a:t>DO NOT HIDE Alex being US-based. Address it in one line: the company is Irish,</a:t>
            </a:r>
          </a:p>
          <a:p>
            <a:r>
              <a:t>the IP is Irish-owned, engineering is in Dublin, and the market is US-first —</a:t>
            </a:r>
          </a:p>
          <a:p>
            <a:r>
              <a:t>which is why the domain founder is where the customers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BEATS, IN THIS ORDER — DO NOT INVERT THEM.</a:t>
            </a:r>
          </a:p>
          <a:p/>
          <a:p>
            <a:r>
              <a:t>FIRST: IT WORKS. Cases closed, attorneys using it, a practice winning business</a:t>
            </a:r>
          </a:p>
          <a:p>
            <a:r>
              <a:t>because of it. That is a further-along position than most of what NDRC will see</a:t>
            </a:r>
          </a:p>
          <a:p>
            <a:r>
              <a:t>this year, and it should be the first thing out of your mouth.</a:t>
            </a:r>
          </a:p>
          <a:p/>
          <a:p>
            <a:r>
              <a:t>SECOND: THE SECURITY GATE. No external customer's evidence enters until the</a:t>
            </a:r>
          </a:p>
          <a:p>
            <a:r>
              <a:t>isolation, backup and legal stages pass. Most pre-seed teams cannot demonstrate</a:t>
            </a:r>
          </a:p>
          <a:p>
            <a:r>
              <a:t>release discipline at all. Frame it as WHY the external pilot hasn't started</a:t>
            </a:r>
          </a:p>
          <a:p>
            <a:r>
              <a:t>yet — that turns a delay into evidence of seriousness.</a:t>
            </a:r>
          </a:p>
          <a:p/>
          <a:p>
            <a:r>
              <a:t>ON THE ROADMAP: mention it, don't dwell on it. It is a statement of ambition,</a:t>
            </a:r>
          </a:p>
          <a:p>
            <a:r>
              <a:t>not a list of things Loupe cannot do. If the deck spends more pixels on the</a:t>
            </a:r>
          </a:p>
          <a:p>
            <a:r>
              <a:t>roadmap than on the working product, a reader concludes the product IS the</a:t>
            </a:r>
          </a:p>
          <a:p>
            <a:r>
              <a:t>roadmap.</a:t>
            </a:r>
          </a:p>
          <a:p/>
          <a:p>
            <a:r>
              <a:t>CLAIMS SAFETY</a:t>
            </a:r>
          </a:p>
          <a:p>
            <a:r>
              <a:t>- DO NOT call the ex-FBI PI firm a signed customer, an LOI, or a pipeline</a:t>
            </a:r>
          </a:p>
          <a:p>
            <a:r>
              <a:t>  value. Nothing is signed. True and sufficient: an agreed next case, an</a:t>
            </a:r>
          </a:p>
          <a:p>
            <a:r>
              <a:t>  at-cost trial, an MSA to be exchanged. This is the only hard prohibition.</a:t>
            </a:r>
          </a:p>
          <a:p>
            <a:r>
              <a:t>- "WCAG 2.1 AA" and "571k-node corpus" — fine if evidenced. Have the audit</a:t>
            </a:r>
          </a:p>
          <a:p>
            <a:r>
              <a:t>  result and load-test output to hand.</a:t>
            </a:r>
          </a:p>
          <a:p>
            <a:r>
              <a:t>- Scale figures: say whether each came from a real case or a test corpus.</a:t>
            </a:r>
          </a:p>
          <a:p>
            <a:r>
              <a:t>- Prefer "verification workflow" over "human-verified facts".</a:t>
            </a:r>
          </a:p>
          <a:p>
            <a:r>
              <a:t>- CI: .github/workflows absent from the branch inspected. If CI runs elsewhere,</a:t>
            </a:r>
          </a:p>
          <a:p>
            <a:r>
              <a:t>  ignore. Otherwise don't claim hard-gating CI — and consider standing it up.</a:t>
            </a:r>
          </a:p>
          <a:p/>
          <a:p>
            <a:r>
              <a:t>FRAMING RULE FOR THE WHOLE DECK: Loupe is one product, and it works. Never</a:t>
            </a:r>
          </a:p>
          <a:p>
            <a:r>
              <a:t>write a sentence that invites a reader to wonder whether the thing that ran</a:t>
            </a:r>
          </a:p>
          <a:p>
            <a:r>
              <a:t>federal cases is the same thing you are pitching.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put an hours figure on this slide, and do not pre-empt an</a:t>
            </a:r>
          </a:p>
          <a:p>
            <a:r>
              <a:t>arithmetic problem you don't have. This is a COMMERCIALISATION raise, not a</a:t>
            </a:r>
          </a:p>
          <a:p>
            <a:r>
              <a:t>build raise — the easier of the two to underwrite, and it happens to be true.</a:t>
            </a:r>
          </a:p>
          <a:p/>
          <a:p>
            <a:r>
              <a:t>THE SPOKEN CLOSE — for a live presentation, not for the PDF.</a:t>
            </a:r>
          </a:p>
          <a:p>
            <a:r>
              <a:t>The slide used to end on "we are not asking anyone to fund the invention of a</a:t>
            </a:r>
          </a:p>
          <a:p>
            <a:r>
              <a:t>product; we are asking them to fund the distance between works and sold." It</a:t>
            </a:r>
          </a:p>
          <a:p>
            <a:r>
              <a:t>was cut: it opens on a negative, and the metaphor needs a beat of explanation</a:t>
            </a:r>
          </a:p>
          <a:p>
            <a:r>
              <a:t>that a cold reader will not give it. The headline already states the ask</a:t>
            </a:r>
          </a:p>
          <a:p>
            <a:r>
              <a:t>positively. Say it aloud instead, if the room is right for it:</a:t>
            </a:r>
          </a:p>
          <a:p/>
          <a:p>
            <a:r>
              <a:t>  What we're asking you to fund is the distance between works and sold.</a:t>
            </a:r>
          </a:p>
          <a:p/>
          <a:p>
            <a:r>
              <a:t>If the roadmap comes up: it is the path from serving one practice to serving</a:t>
            </a:r>
          </a:p>
          <a:p>
            <a:r>
              <a:t>many, deliberately ambitious because the category rewards depth. Present it as</a:t>
            </a:r>
          </a:p>
          <a:p>
            <a:r>
              <a:t>where the company goes, never as what the product still lacks. If asked what</a:t>
            </a:r>
          </a:p>
          <a:p>
            <a:r>
              <a:t>€100k funds against a 265-ticket board: the gate and the pilot, and the rest is</a:t>
            </a:r>
          </a:p>
          <a:p>
            <a:r>
              <a:t>sequenced behind revenue from customers you will have by then.</a:t>
            </a:r>
          </a:p>
          <a:p/>
          <a:p>
            <a:r>
              <a:t>THE GROSS-MARGIN QUESTION — be ready for it.</a:t>
            </a:r>
          </a:p>
          <a:p>
            <a:r>
              <a:t>Loupe has a real variable cost per case: AI processing, roughly $70 to ingest a</a:t>
            </a:r>
          </a:p>
          <a:p>
            <a:r>
              <a:t>1,600-page document. A buyer has already asked whether the licence covers AI</a:t>
            </a:r>
          </a:p>
          <a:p>
            <a:r>
              <a:t>processing or tokens are billed separately. It is not yet answered. Do not hide</a:t>
            </a:r>
          </a:p>
          <a:p>
            <a:r>
              <a:t>it. Credible position:</a:t>
            </a:r>
          </a:p>
          <a:p/>
          <a:p>
            <a:r>
              <a:t>  Every case carries a measurable AI processing cost. We meter it today.</a:t>
            </a:r>
          </a:p>
          <a:p>
            <a:r>
              <a:t>  Whether it sits inside the licence or is passed through is a pricing decision</a:t>
            </a:r>
          </a:p>
          <a:p>
            <a:r>
              <a:t>  we are taking from pilot data rather than guessing — and it is one of the</a:t>
            </a:r>
          </a:p>
          <a:p>
            <a:r>
              <a:t>  questions this round exists to answer.</a:t>
            </a:r>
          </a:p>
          <a:p/>
          <a:p>
            <a:r>
              <a:t>Two things make this a strength: (1) you MEASURE it, which most applicants</a:t>
            </a:r>
          </a:p>
          <a:p>
            <a:r>
              <a:t>cannot; (2) the cost is direct evidence of the product claim — the price is</a:t>
            </a:r>
          </a:p>
          <a:p>
            <a:r>
              <a:t>high because the system reads everything, which is precisely what a $20 chat</a:t>
            </a:r>
          </a:p>
          <a:p>
            <a:r>
              <a:t>subscription does not do.</a:t>
            </a:r>
          </a:p>
          <a:p/>
          <a:p>
            <a:r>
              <a:t>Have a rough per-case unit economic ready: cost to process a representative</a:t>
            </a:r>
          </a:p>
          <a:p>
            <a:r>
              <a:t>matter versus the senior/junior hours it displaces. You don't need a final</a:t>
            </a:r>
          </a:p>
          <a:p>
            <a:r>
              <a:t>price. You need to show you know the shape of the P&amp;L.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upe-lockup-kno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3931920" cy="14253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3017520"/>
            <a:ext cx="106372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E33B4C"/>
                </a:solidFill>
                <a:latin typeface="IBM Plex Sans"/>
              </a:rPr>
              <a:t>Find the signal in everything.</a:t>
            </a:r>
          </a:p>
          <a:p>
            <a:pPr algn="l">
              <a:lnSpc>
                <a:spcPct val="128000"/>
              </a:lnSpc>
              <a:spcBef>
                <a:spcPts val="1800"/>
              </a:spcBef>
              <a:spcAft>
                <a:spcPts val="0"/>
              </a:spcAft>
            </a:pPr>
            <a:r>
              <a:rPr sz="2700" b="1" i="0">
                <a:solidFill>
                  <a:srgbClr val="F7F7F8"/>
                </a:solidFill>
                <a:latin typeface="Space Grotesk"/>
              </a:rPr>
              <a:t>An investigation platform for evidence-heavy casework.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2700" b="1" i="0">
                <a:solidFill>
                  <a:srgbClr val="F7F7F8"/>
                </a:solidFill>
                <a:latin typeface="Space Grotesk"/>
              </a:rPr>
              <a:t>Everyone can cite a document. Nobody can query a case.</a:t>
            </a:r>
          </a:p>
          <a:p>
            <a:pPr algn="l">
              <a:lnSpc>
                <a:spcPct val="128000"/>
              </a:lnSpc>
              <a:spcBef>
                <a:spcPts val="2000"/>
              </a:spcBef>
              <a:spcAft>
                <a:spcPts val="0"/>
              </a:spcAft>
            </a:pPr>
            <a:r>
              <a:rPr sz="1700" b="0" i="0">
                <a:solidFill>
                  <a:srgbClr val="9A9DA5"/>
                </a:solidFill>
                <a:latin typeface="IBM Plex Sans"/>
              </a:rPr>
              <a:t>In production use on real federal matters.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9A9DA5"/>
                </a:solidFill>
                <a:latin typeface="IBM Plex Sans"/>
              </a:rPr>
              <a:t>Dublin, Ireland.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6035040"/>
            <a:ext cx="14630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7F8"/>
                </a:solidFill>
                <a:latin typeface="Space Grotesk"/>
              </a:rPr>
              <a:t>Modern casework is a data problem
wearing a legal costume.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84831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5257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9DA5"/>
                </a:solidFill>
                <a:latin typeface="IBM Plex Sans"/>
              </a:rPr>
              <a:t>A single serious-fraud or criminal case now arrives as:</a:t>
            </a:r>
          </a:p>
          <a:p>
            <a:pPr algn="l" marL="274320" indent="-274320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600" b="0" i="0">
                <a:solidFill>
                  <a:srgbClr val="F7F7F8"/>
                </a:solidFill>
                <a:latin typeface="IBM Plex Sans"/>
              </a:rPr>
              <a:t>thousands of documents</a:t>
            </a:r>
          </a:p>
          <a:p>
            <a:pPr algn="l" marL="274320" indent="-274320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600" b="0" i="0">
                <a:solidFill>
                  <a:srgbClr val="F7F7F8"/>
                </a:solidFill>
                <a:latin typeface="IBM Plex Sans"/>
              </a:rPr>
              <a:t>multi-gigabyte phone extractions, hundreds of thousands of events</a:t>
            </a:r>
          </a:p>
          <a:p>
            <a:pPr algn="l" marL="274320" indent="-274320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600" b="0" i="0">
                <a:solidFill>
                  <a:srgbClr val="F7F7F8"/>
                </a:solidFill>
                <a:latin typeface="IBM Plex Sans"/>
              </a:rPr>
              <a:t>bank records spanning tens of thousands of transactions</a:t>
            </a:r>
          </a:p>
          <a:p>
            <a:pPr algn="l" marL="274320" indent="-274320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600" b="0" i="0">
                <a:solidFill>
                  <a:srgbClr val="F7F7F8"/>
                </a:solidFill>
                <a:latin typeface="IBM Plex Sans"/>
              </a:rPr>
              <a:t>hours of recorded audio</a:t>
            </a:r>
          </a:p>
          <a:p>
            <a:pPr algn="l">
              <a:lnSpc>
                <a:spcPct val="128000"/>
              </a:lnSpc>
              <a:spcBef>
                <a:spcPts val="1800"/>
              </a:spcBef>
              <a:spcAft>
                <a:spcPts val="0"/>
              </a:spcAft>
            </a:pPr>
            <a:r>
              <a:rPr sz="1600" b="0" i="0">
                <a:solidFill>
                  <a:srgbClr val="F7F7F8"/>
                </a:solidFill>
                <a:latin typeface="IBM Plex Sans"/>
              </a:rPr>
              <a:t>The tools investigators have are </a:t>
            </a:r>
            <a:r>
              <a:rPr sz="1600" b="1" i="0">
                <a:solidFill>
                  <a:srgbClr val="F7F7F8"/>
                </a:solidFill>
                <a:latin typeface="IBM Plex Sans"/>
              </a:rPr>
              <a:t>viewers.</a:t>
            </a:r>
            <a:r>
              <a:rPr sz="1600" b="0" i="0">
                <a:solidFill>
                  <a:srgbClr val="F7F7F8"/>
                </a:solidFill>
                <a:latin typeface="IBM Plex Sans"/>
              </a:rPr>
              <a:t> One phone at a time. One PDF at a time. One spreadsheet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37744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DA5"/>
                </a:solidFill>
                <a:latin typeface="IBM Plex Sans"/>
              </a:rPr>
              <a:t>The connections — the same person in a witness statement, a WhatsApp thread and a beneficiary field; the meeting two streets from the cash withdrawal — live in investigators' heads and on whiteboards.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1" i="0">
                <a:solidFill>
                  <a:srgbClr val="E33B4C"/>
                </a:solidFill>
                <a:latin typeface="IBM Plex Sans"/>
              </a:rPr>
              <a:t>They don't scale, they don't survive staff turnover, and they can't be handed to a court.</a:t>
            </a:r>
          </a:p>
          <a:p>
            <a:pPr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IBM Plex Sans"/>
              </a:rPr>
              <a:t>We didn't start with a product idea. We started with a case we couldn't work.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1">
                <a:solidFill>
                  <a:srgbClr val="9A9DA5"/>
                </a:solidFill>
                <a:latin typeface="IBM Plex Sans"/>
              </a:rPr>
              <a:t>We tried to buy this. Building it was the second choice, not the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521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A9DA5"/>
                </a:solidFill>
                <a:latin typeface="IBM Plex Sans"/>
              </a:rPr>
              <a:t>And the tools that could hold it throw it away.</a:t>
            </a:r>
            <a:r>
              <a:rPr sz="1300" b="0" i="0">
                <a:solidFill>
                  <a:srgbClr val="9A9DA5"/>
                </a:solidFill>
                <a:latin typeface="IBM Plex Sans"/>
              </a:rPr>
              <a:t> Relativity's own processing documentation says call logs emerge “only as call log data in Excel format, not as individual records,” and that multi-device extractions are unsupported. Everlaw splits conversations every thousand messages; Reveal slices them into 24-hour blocks.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7F8"/>
                </a:solidFill>
                <a:latin typeface="Space Grotesk"/>
              </a:rPr>
              <a:t>Three curves crossed.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852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1600"/>
              </a:spcBef>
              <a:spcAft>
                <a:spcPts val="0"/>
              </a:spcAft>
            </a:pPr>
            <a:r>
              <a:rPr sz="1300" b="1" i="0">
                <a:solidFill>
                  <a:srgbClr val="E33B4C"/>
                </a:solidFill>
                <a:latin typeface="IBM Plex Sans"/>
              </a:rPr>
              <a:t>01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IBM Plex Sans"/>
              </a:rPr>
              <a:t>Digital evidence volume exploded.</a:t>
            </a:r>
            <a:r>
              <a:rPr sz="1500" b="0" i="0">
                <a:solidFill>
                  <a:srgbClr val="F7F7F8"/>
                </a:solidFill>
                <a:latin typeface="IBM Plex Sans"/>
              </a:rPr>
              <a:t> A phone extraction now appears in nearly every case.</a:t>
            </a:r>
          </a:p>
          <a:p>
            <a:pPr algn="l">
              <a:lnSpc>
                <a:spcPct val="128000"/>
              </a:lnSpc>
              <a:spcBef>
                <a:spcPts val="1600"/>
              </a:spcBef>
              <a:spcAft>
                <a:spcPts val="0"/>
              </a:spcAft>
            </a:pPr>
            <a:r>
              <a:rPr sz="1300" b="1" i="0">
                <a:solidFill>
                  <a:srgbClr val="E33B4C"/>
                </a:solidFill>
                <a:latin typeface="IBM Plex Sans"/>
              </a:rPr>
              <a:t>02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IBM Plex Sans"/>
              </a:rPr>
              <a:t>LLMs became good enough</a:t>
            </a:r>
            <a:r>
              <a:rPr sz="1500" b="0" i="0">
                <a:solidFill>
                  <a:srgbClr val="F7F7F8"/>
                </a:solidFill>
                <a:latin typeface="IBM Plex Sans"/>
              </a:rPr>
              <a:t> to read evidence at scale.</a:t>
            </a:r>
          </a:p>
          <a:p>
            <a:pPr algn="l">
              <a:lnSpc>
                <a:spcPct val="128000"/>
              </a:lnSpc>
              <a:spcBef>
                <a:spcPts val="1600"/>
              </a:spcBef>
              <a:spcAft>
                <a:spcPts val="0"/>
              </a:spcAft>
            </a:pPr>
            <a:r>
              <a:rPr sz="1300" b="1" i="0">
                <a:solidFill>
                  <a:srgbClr val="E33B4C"/>
                </a:solidFill>
                <a:latin typeface="IBM Plex Sans"/>
              </a:rPr>
              <a:t>03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IBM Plex Sans"/>
              </a:rPr>
              <a:t>The category converged on cited answers — and stopped there.</a:t>
            </a:r>
            <a:r>
              <a:rPr sz="1500" b="0" i="0">
                <a:solidFill>
                  <a:srgbClr val="F7F7F8"/>
                </a:solidFill>
                <a:latin typeface="IBM Plex Sans"/>
              </a:rPr>
              <a:t> Relativity folded aiR into its base rate in November 2025; Everlaw bundled three AI features into core pricing the same month; DISCO announced agentic AI at no extra cost in February 2026. Everyone can cite a document. Nobody modelled the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2148840"/>
            <a:ext cx="43434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A9DA5"/>
                </a:solidFill>
                <a:latin typeface="IBM Plex Sans"/>
              </a:rPr>
              <a:t>That is the gap Loupe was built into: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2300" b="1" i="0">
                <a:solidFill>
                  <a:srgbClr val="E33B4C"/>
                </a:solidFill>
                <a:latin typeface="IBM Plex Sans"/>
              </a:rPr>
              <a:t>the layer underneath the answer — a model of the whole case, so a question can be put to all of it at once.</a:t>
            </a:r>
          </a:p>
          <a:p>
            <a:pPr algn="l">
              <a:lnSpc>
                <a:spcPct val="128000"/>
              </a:lnSpc>
              <a:spcBef>
                <a:spcPts val="3000"/>
              </a:spcBef>
              <a:spcAft>
                <a:spcPts val="0"/>
              </a:spcAft>
            </a:pPr>
            <a:r>
              <a:rPr sz="1600" b="0" i="0">
                <a:solidFill>
                  <a:srgbClr val="F7F7F8"/>
                </a:solidFill>
                <a:latin typeface="IBM Plex Sans"/>
              </a:rPr>
              <a:t>Only ~25% of anti-fraud programmes use AI/ML today — and only </a:t>
            </a:r>
            <a:r>
              <a:rPr sz="1600" b="1" i="0">
                <a:solidFill>
                  <a:srgbClr val="F7F7F8"/>
                </a:solidFill>
                <a:latin typeface="IBM Plex Sans"/>
              </a:rPr>
              <a:t>~6% of fraud examiners are confident explaining how their AI reaches its conclusions.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1">
                <a:solidFill>
                  <a:srgbClr val="9A9DA5"/>
                </a:solidFill>
                <a:latin typeface="IBM Plex Sans"/>
              </a:rPr>
              <a:t>ACFE 2026 anti-fraud technology benchmarking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7F7F8"/>
                </a:solidFill>
                <a:latin typeface="Space Grotesk"/>
              </a:rPr>
              <a:t>Evidence in. One connected model 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27632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7F8"/>
                </a:solidFill>
                <a:latin typeface="IBM Plex Sans"/>
              </a:rPr>
              <a:t>Phone extractions and call logs, documents, images, audio, financial records — everything a case arrives with — resolved at ingestion into </a:t>
            </a:r>
            <a:r>
              <a:rPr sz="1400" b="1" i="0">
                <a:solidFill>
                  <a:srgbClr val="F7F7F8"/>
                </a:solidFill>
                <a:latin typeface="IBM Plex Sans"/>
              </a:rPr>
              <a:t>one model</a:t>
            </a:r>
            <a:r>
              <a:rPr sz="1400" b="0" i="0">
                <a:solidFill>
                  <a:srgbClr val="F7F7F8"/>
                </a:solidFill>
                <a:latin typeface="IBM Plex Sans"/>
              </a:rPr>
              <a:t>, where a call, a transfer and a line in a subpoena return are the same kind of citable object.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1401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33B4C"/>
                </a:solidFill>
                <a:latin typeface="IBM Plex Mono"/>
              </a:rPr>
              <a:t>ONE MODEL, MANY PERSPECTIVES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24912"/>
            <a:ext cx="2084831" cy="402336"/>
          </a:xfrm>
          <a:prstGeom prst="roundRect">
            <a:avLst/>
          </a:prstGeom>
          <a:solidFill>
            <a:srgbClr val="111216"/>
          </a:solidFill>
          <a:ln w="12700">
            <a:solidFill>
              <a:srgbClr val="B4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7F8"/>
                </a:solidFill>
                <a:latin typeface="IBM Plex Sans"/>
              </a:rPr>
              <a:t>Financial explorer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087" y="2724912"/>
            <a:ext cx="2084831" cy="402336"/>
          </a:xfrm>
          <a:prstGeom prst="roundRect">
            <a:avLst/>
          </a:prstGeom>
          <a:solidFill>
            <a:srgbClr val="111216"/>
          </a:solidFill>
          <a:ln w="12700">
            <a:solidFill>
              <a:srgbClr val="B4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7F8"/>
                </a:solidFill>
                <a:latin typeface="IBM Plex Sans"/>
              </a:rPr>
              <a:t>Multi-phone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2934" y="2724912"/>
            <a:ext cx="2084831" cy="402336"/>
          </a:xfrm>
          <a:prstGeom prst="roundRect">
            <a:avLst/>
          </a:prstGeom>
          <a:solidFill>
            <a:srgbClr val="111216"/>
          </a:solidFill>
          <a:ln w="12700">
            <a:solidFill>
              <a:srgbClr val="B4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7F8"/>
                </a:solidFill>
                <a:latin typeface="IBM Plex Sans"/>
              </a:rPr>
              <a:t>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15781" y="2724912"/>
            <a:ext cx="2084831" cy="402336"/>
          </a:xfrm>
          <a:prstGeom prst="roundRect">
            <a:avLst/>
          </a:prstGeom>
          <a:solidFill>
            <a:srgbClr val="111216"/>
          </a:solidFill>
          <a:ln w="12700">
            <a:solidFill>
              <a:srgbClr val="B4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7F8"/>
                </a:solidFill>
                <a:latin typeface="IBM Plex Sans"/>
              </a:rPr>
              <a:t>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28628" y="2724912"/>
            <a:ext cx="2084831" cy="402336"/>
          </a:xfrm>
          <a:prstGeom prst="roundRect">
            <a:avLst/>
          </a:prstGeom>
          <a:solidFill>
            <a:srgbClr val="111216"/>
          </a:solidFill>
          <a:ln w="12700">
            <a:solidFill>
              <a:srgbClr val="B4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7F8"/>
                </a:solidFill>
                <a:latin typeface="IBM Plex Sans"/>
              </a:rPr>
              <a:t>Agent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91840"/>
            <a:ext cx="4937760" cy="1783080"/>
          </a:xfrm>
          <a:prstGeom prst="rect">
            <a:avLst/>
          </a:prstGeom>
          <a:solidFill>
            <a:srgbClr val="111216"/>
          </a:solidFill>
          <a:ln w="12700">
            <a:solidFill>
              <a:srgbClr val="3B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SCREENSHOT — A LOUPE</a:t>
            </a:r>
          </a:p>
          <a:p>
            <a:pPr algn="ct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9A9DA5"/>
                </a:solidFill>
                <a:latin typeface="IBM Plex Sans"/>
              </a:rPr>
              <a:t>Passages, entities and events from several sources,
bound into one evidenced finding.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291840"/>
            <a:ext cx="4937760" cy="1783080"/>
          </a:xfrm>
          <a:prstGeom prst="rect">
            <a:avLst/>
          </a:prstGeom>
          <a:solidFill>
            <a:srgbClr val="111216"/>
          </a:solidFill>
          <a:ln w="12700">
            <a:solidFill>
              <a:srgbClr val="3B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SCREENSHOT — CITED AI ANSWER, MID-CLICK</a:t>
            </a:r>
          </a:p>
          <a:p>
            <a:pPr algn="ct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9A9DA5"/>
                </a:solidFill>
                <a:latin typeface="IBM Plex Sans"/>
              </a:rPr>
              <a:t>Opening the source document
at the cited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0368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7F7F8"/>
                </a:solidFill>
                <a:latin typeface="IBM Plex Sans"/>
              </a:rPr>
              <a:t>A Loupe is a bonded collection</a:t>
            </a:r>
            <a:r>
              <a:rPr sz="1350" b="0" i="0">
                <a:solidFill>
                  <a:srgbClr val="F7F7F8"/>
                </a:solidFill>
                <a:latin typeface="IBM Plex Sans"/>
              </a:rPr>
              <a:t> — the passages, entities, events and transactions that establish one thing, each carrying the quote, page and file it came from.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9A9DA5"/>
                </a:solidFill>
                <a:latin typeface="IBM Plex Sans"/>
              </a:rPr>
              <a:t>Investigators work the perspectives, find what matters, and bind it into a Loupe. </a:t>
            </a:r>
            <a:r>
              <a:rPr sz="1350" b="1" i="0">
                <a:solidFill>
                  <a:srgbClr val="9A9DA5"/>
                </a:solidFill>
                <a:latin typeface="IBM Plex Sans"/>
              </a:rPr>
              <a:t>Loupes move into the case, and the case is built out of them</a:t>
            </a:r>
            <a:r>
              <a:rPr sz="1350" b="0" i="0">
                <a:solidFill>
                  <a:srgbClr val="9A9DA5"/>
                </a:solidFill>
                <a:latin typeface="IBM Plex Sans"/>
              </a:rPr>
              <a:t> — conclusion, justification and evidence, assembled as the investigation runs rather than written up at the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F7F8"/>
                </a:solidFill>
                <a:latin typeface="Space Grotesk"/>
              </a:rPr>
              <a:t>Why this isn't ChatGPT with files.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645920"/>
          <a:ext cx="1063447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4325112"/>
              </a:tblGrid>
              <a:tr h="555171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9A9DA5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9A9DA5"/>
                          </a:solidFill>
                          <a:latin typeface="IBM Plex Sans"/>
                        </a:rPr>
                        <a:t>A straight LLM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E33B4C"/>
                          </a:solidFill>
                          <a:latin typeface="IBM Plex Sans"/>
                        </a:rPr>
                        <a:t>Loupe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7F7F8"/>
                          </a:solidFill>
                          <a:latin typeface="IBM Plex Sans"/>
                        </a:rPr>
                        <a:t>Where the case lives</a:t>
                      </a:r>
                    </a:p>
                  </a:txBody>
                  <a:tcPr marL="109728" marT="22860" marB="22860">
                    <a:solidFill>
                      <a:srgbClr val="11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9A9DA5"/>
                          </a:solidFill>
                          <a:latin typeface="IBM Plex Sans"/>
                        </a:rPr>
                        <a:t>A context window, forgotten after</a:t>
                      </a:r>
                    </a:p>
                  </a:txBody>
                  <a:tcPr marL="109728" marT="22860" marB="22860">
                    <a:solidFill>
                      <a:srgbClr val="11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7F7F8"/>
                          </a:solidFill>
                          <a:latin typeface="IBM Plex Sans"/>
                        </a:rPr>
                        <a:t>A persistent case knowledge graph — outlives every conversation</a:t>
                      </a:r>
                    </a:p>
                  </a:txBody>
                  <a:tcPr marL="109728" marT="22860" marB="22860">
                    <a:solidFill>
                      <a:srgbClr val="111216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7F7F8"/>
                          </a:solidFill>
                          <a:latin typeface="IBM Plex Sans"/>
                        </a:rPr>
                        <a:t>Scale</a:t>
                      </a:r>
                    </a:p>
                  </a:txBody>
                  <a:tcPr marL="109728" marT="22860" marB="2286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9A9DA5"/>
                          </a:solidFill>
                          <a:latin typeface="IBM Plex Sans"/>
                        </a:rPr>
                        <a:t>Hundreds of pages at best</a:t>
                      </a:r>
                    </a:p>
                  </a:txBody>
                  <a:tcPr marL="109728" marT="22860" marB="2286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7F7F8"/>
                          </a:solidFill>
                          <a:latin typeface="IBM Plex Sans"/>
                        </a:rPr>
                        <a:t>A real case: ten phones, 200,000 documents, 500 hours of audio — 435GB, all of it modelled</a:t>
                      </a:r>
                    </a:p>
                  </a:txBody>
                  <a:tcPr marL="109728" marT="22860" marB="22860">
                    <a:solidFill>
                      <a:srgbClr val="0B0C0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7F7F8"/>
                          </a:solidFill>
                          <a:latin typeface="IBM Plex Sans"/>
                        </a:rPr>
                        <a:t>What the AI does</a:t>
                      </a:r>
                    </a:p>
                  </a:txBody>
                  <a:tcPr marL="109728" marT="22860" marB="22860">
                    <a:solidFill>
                      <a:srgbClr val="11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9A9DA5"/>
                          </a:solidFill>
                          <a:latin typeface="IBM Plex Sans"/>
                        </a:rPr>
                        <a:t>Retrieves a sample of what fits and reasons over it in prose. You cannot know what it missed</a:t>
                      </a:r>
                    </a:p>
                  </a:txBody>
                  <a:tcPr marL="109728" marT="22860" marB="22860">
                    <a:solidFill>
                      <a:srgbClr val="11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7F7F8"/>
                          </a:solidFill>
                          <a:latin typeface="IBM Plex Sans"/>
                        </a:rPr>
                        <a:t>Traverses a model of the whole case and returns the complete matching set — every claim cited, and the citation covers all of it, not a sample</a:t>
                      </a:r>
                    </a:p>
                  </a:txBody>
                  <a:tcPr marL="109728" marT="22860" marB="22860">
                    <a:solidFill>
                      <a:srgbClr val="111216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7F7F8"/>
                          </a:solidFill>
                          <a:latin typeface="IBM Plex Sans"/>
                        </a:rPr>
                        <a:t>Confidentiality</a:t>
                      </a:r>
                    </a:p>
                  </a:txBody>
                  <a:tcPr marL="109728" marT="22860" marB="2286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9A9DA5"/>
                          </a:solidFill>
                          <a:latin typeface="IBM Plex Sans"/>
                        </a:rPr>
                        <a:t>Multi-tenant cloud</a:t>
                      </a:r>
                    </a:p>
                  </a:txBody>
                  <a:tcPr marL="109728" marT="22860" marB="2286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7F7F8"/>
                          </a:solidFill>
                          <a:latin typeface="IBM Plex Sans"/>
                        </a:rPr>
                        <a:t>Single-tenant: evidence never leaves the customer's instance</a:t>
                      </a:r>
                    </a:p>
                  </a:txBody>
                  <a:tcPr marL="109728" marT="22860" marB="22860">
                    <a:solidFill>
                      <a:srgbClr val="0B0C0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7F7F8"/>
                          </a:solidFill>
                          <a:latin typeface="IBM Plex Sans"/>
                        </a:rPr>
                        <a:t>Human judgment</a:t>
                      </a:r>
                    </a:p>
                  </a:txBody>
                  <a:tcPr marL="109728" marT="22860" marB="22860">
                    <a:solidFill>
                      <a:srgbClr val="11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9A9DA5"/>
                          </a:solidFill>
                          <a:latin typeface="IBM Plex Sans"/>
                        </a:rPr>
                        <a:t>Lives outside the tool — lost between sessions</a:t>
                      </a:r>
                    </a:p>
                  </a:txBody>
                  <a:tcPr marL="109728" marT="22860" marB="22860">
                    <a:solidFill>
                      <a:srgbClr val="11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7F7F8"/>
                          </a:solidFill>
                          <a:latin typeface="IBM Plex Sans"/>
                        </a:rPr>
                        <a:t>Highlights, significance and Loupes — bonded collections of evidence — are durable objects in the case model</a:t>
                      </a:r>
                    </a:p>
                  </a:txBody>
                  <a:tcPr marL="109728" marT="22860" marB="22860">
                    <a:solidFill>
                      <a:srgbClr val="111216"/>
                    </a:solidFill>
                  </a:tcPr>
                </a:tc>
              </a:tr>
              <a:tr h="55517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7F7F8"/>
                          </a:solidFill>
                          <a:latin typeface="IBM Plex Sans"/>
                        </a:rPr>
                        <a:t>Model dependence</a:t>
                      </a:r>
                    </a:p>
                  </a:txBody>
                  <a:tcPr marL="109728" marT="22860" marB="2286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9A9DA5"/>
                          </a:solidFill>
                          <a:latin typeface="IBM Plex Sans"/>
                        </a:rPr>
                        <a:t>The model is the product</a:t>
                      </a:r>
                    </a:p>
                  </a:txBody>
                  <a:tcPr marL="109728" marT="22860" marB="2286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7F7F8"/>
                          </a:solidFill>
                          <a:latin typeface="IBM Plex Sans"/>
                        </a:rPr>
                        <a:t>Models are interchangeable components. The moat is the evidence layer.</a:t>
                      </a:r>
                    </a:p>
                  </a:txBody>
                  <a:tcPr marL="109728" marT="22860" marB="22860"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650992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A9DA5"/>
                </a:solidFill>
                <a:latin typeface="IBM Plex Sans"/>
              </a:rPr>
              <a:t>And not only ChatGPT — the specialists publish their own ceilings.</a:t>
            </a:r>
            <a:r>
              <a:rPr sz="1200" b="0" i="0">
                <a:solidFill>
                  <a:srgbClr val="9A9DA5"/>
                </a:solidFill>
                <a:latin typeface="IBM Plex Sans"/>
              </a:rPr>
              <a:t> Relativity caps at 300,000 documents per index; Reveal states its search is “designed for precision, not recall”.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350" b="0" i="0">
                <a:solidFill>
                  <a:srgbClr val="F7F7F8"/>
                </a:solidFill>
                <a:latin typeface="IBM Plex Sans"/>
              </a:rPr>
              <a:t>A straight LLM gives you a well-written opinion about the fraction of the evidence that fits in its context window. Loupe models all of it — and </a:t>
            </a:r>
            <a:r>
              <a:rPr sz="1350" b="1" i="0">
                <a:solidFill>
                  <a:srgbClr val="F7F7F8"/>
                </a:solidFill>
                <a:latin typeface="IBM Plex Sans"/>
              </a:rPr>
              <a:t>every claim carries its receipt.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7F7F8"/>
                </a:solidFill>
                <a:latin typeface="Space Grotesk"/>
              </a:rPr>
              <a:t>Forty-seven platforms. The intersection is empty.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74519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2996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7F8"/>
                </a:solidFill>
                <a:latin typeface="IBM Plex Sans"/>
              </a:rPr>
              <a:t>We assessed the category across thirty capability axes. It splits into two halves that never meet — and the buyer sits in the gap between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15184"/>
            <a:ext cx="3520440" cy="2706624"/>
          </a:xfrm>
          <a:prstGeom prst="rect">
            <a:avLst/>
          </a:prstGeom>
          <a:solidFill>
            <a:srgbClr val="111216"/>
          </a:solidFill>
          <a:ln w="15875">
            <a:solidFill>
              <a:srgbClr val="3B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734056"/>
            <a:ext cx="319125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7F8"/>
                </a:solidFill>
                <a:latin typeface="Space Grotesk"/>
              </a:rPr>
              <a:t>They model the evidence — and won't sell it to you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E33B4C"/>
                </a:solidFill>
                <a:latin typeface="IBM Plex Mono"/>
              </a:rPr>
              <a:t>Cellebrite · Magnet · Palantir · Pathfinder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9A9DA5"/>
                </a:solidFill>
                <a:latin typeface="IBM Plex Sans"/>
              </a:rPr>
              <a:t>They own the extraction and build real graphs. Pathfinder is sold only to law enforcement and intelligence; GrayKey not to the private sector at all. What a practice can buy is examiner tooling — five kinds of device, no kinds of document.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615184"/>
            <a:ext cx="3520440" cy="2706624"/>
          </a:xfrm>
          <a:prstGeom prst="rect">
            <a:avLst/>
          </a:prstGeom>
          <a:solidFill>
            <a:srgbClr val="111216"/>
          </a:solidFill>
          <a:ln w="15875">
            <a:solidFill>
              <a:srgbClr val="3B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734056"/>
            <a:ext cx="319125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7F8"/>
                </a:solidFill>
                <a:latin typeface="Space Grotesk"/>
              </a:rPr>
              <a:t>They'll sell to you — and treat a phone as an attachment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E33B4C"/>
                </a:solidFill>
                <a:latin typeface="IBM Plex Mono"/>
              </a:rPr>
              <a:t>Relativity · Everlaw · DISCO · Reveal · Harvey · CoCounsel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9A9DA5"/>
                </a:solidFill>
                <a:latin typeface="IBM Plex Sans"/>
              </a:rPr>
              <a:t>Excellent at documents, purchasable, and the phone data does not survive the door. Call logs emerge as Excel, conversations are split every thousand messages, multi-device extractions are unsupported.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2615184"/>
            <a:ext cx="3520440" cy="2706624"/>
          </a:xfrm>
          <a:prstGeom prst="rect">
            <a:avLst/>
          </a:prstGeom>
          <a:solidFill>
            <a:srgbClr val="111216"/>
          </a:solidFill>
          <a:ln w="15875">
            <a:solidFill>
              <a:srgbClr val="B4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734056"/>
            <a:ext cx="319125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7F8"/>
                </a:solidFill>
                <a:latin typeface="Space Grotesk"/>
              </a:rPr>
              <a:t>Same buyer as us — and no case model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E33B4C"/>
                </a:solidFill>
                <a:latin typeface="IBM Plex Mono"/>
              </a:rPr>
              <a:t>TrialKit · Matey · JusticeText · Longeye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9A9DA5"/>
                </a:solidFill>
                <a:latin typeface="IBM Plex Sans"/>
              </a:rPr>
              <a:t>Four funded companies selling AI to criminal defence, $2.5M–$7.5M seed each, with the bar associations and the certifications. </a:t>
            </a:r>
            <a:r>
              <a:rPr sz="1100" b="1" i="0">
                <a:solidFill>
                  <a:srgbClr val="9A9DA5"/>
                </a:solidFill>
                <a:latin typeface="IBM Plex Sans"/>
              </a:rPr>
              <a:t>None of them has a graph.</a:t>
            </a:r>
            <a:r>
              <a:rPr sz="1100" b="0" i="0">
                <a:solidFill>
                  <a:srgbClr val="9A9DA5"/>
                </a:solidFill>
                <a:latin typeface="IBM Plex Sans"/>
              </a:rPr>
              <a:t> All four answer by retrieval — which returns what looked relevant and cannot tell you what it missed. </a:t>
            </a:r>
            <a:r>
              <a:rPr sz="1100" b="1" i="0">
                <a:solidFill>
                  <a:srgbClr val="9A9DA5"/>
                </a:solidFill>
                <a:latin typeface="IBM Plex Sans"/>
              </a:rPr>
              <a:t>On a defence matter the thing you never saw is the thing that loses the case.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68112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7F7F8"/>
                </a:solidFill>
                <a:latin typeface="IBM Plex Sans"/>
              </a:rPr>
              <a:t>Not one of the forty-seven holds device data, financial records and documents in a single model</a:t>
            </a:r>
            <a:r>
              <a:rPr sz="1450" b="0" i="0">
                <a:solidFill>
                  <a:srgbClr val="F7F7F8"/>
                </a:solidFill>
                <a:latin typeface="IBM Plex Sans"/>
              </a:rPr>
              <a:t> — and that is structural, not an accident of scoring. Modelling evidence and serving this buyer are different problems sold to different customers.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1" i="0">
                <a:solidFill>
                  <a:srgbClr val="E33B4C"/>
                </a:solidFill>
                <a:latin typeface="IBM Plex Sans"/>
              </a:rPr>
              <a:t>We know because we went looking for a platform to run live federal casework, tried several, and none could work the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MARKET AND LEAD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7F7F8"/>
                </a:solidFill>
                <a:latin typeface="Space Grotesk"/>
              </a:rPr>
              <a:t>Every feature was requested by a working
investigator on a live case.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74519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48640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7F8"/>
                </a:solidFill>
                <a:latin typeface="IBM Plex Sans"/>
              </a:rPr>
              <a:t>Our CPO is our design partner. Development has been customer-led from the first commit — not a roadmap we invented and then validated, but a backlog generated by real federal casework. Cases have been worked to completion in the platform, and </a:t>
            </a:r>
            <a:r>
              <a:rPr sz="1300" b="1" i="0">
                <a:solidFill>
                  <a:srgbClr val="F7F7F8"/>
                </a:solidFill>
                <a:latin typeface="IBM Plex Sans"/>
              </a:rPr>
              <a:t>three attorneys on those cases have been given access to it.</a:t>
            </a:r>
          </a:p>
          <a:p>
            <a:pPr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</a:pPr>
            <a:r>
              <a:rPr sz="1500" b="1" i="0">
                <a:solidFill>
                  <a:srgbClr val="E33B4C"/>
                </a:solidFill>
                <a:latin typeface="IBM Plex Sans"/>
              </a:rPr>
              <a:t>Why this tier is empty — and stays empty.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9A9DA5"/>
                </a:solidFill>
                <a:latin typeface="IBM Plex Sans"/>
              </a:rPr>
              <a:t>Enterprise investigative-intelligence platforms are sold with configuration and support attached — the right model for agencies and large institutions, who arrive with budget, procurement and implementation resource.</a:t>
            </a:r>
          </a:p>
          <a:p>
            <a:pPr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F7F7F8"/>
                </a:solidFill>
                <a:latin typeface="IBM Plex Sans"/>
              </a:rPr>
              <a:t>The tier below has the same casework complexity and the same evidence volumes — and none of that budget. </a:t>
            </a:r>
            <a:r>
              <a:rPr sz="1200" b="1" i="0">
                <a:solidFill>
                  <a:srgbClr val="F7F7F8"/>
                </a:solidFill>
                <a:latin typeface="IBM Plex Sans"/>
              </a:rPr>
              <a:t>Loupe is built for it directly: usable out of the box, by a practice with no implementation resource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148840"/>
            <a:ext cx="4663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Beachhead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F7F7F8"/>
                </a:solidFill>
                <a:latin typeface="IBM Plex Sans"/>
              </a:rPr>
              <a:t>Boutique forensic and criminal-defence practices — 10–50 people, Big-Four-class casework without Big-Four tooling budgets.</a:t>
            </a:r>
          </a:p>
          <a:p>
            <a:pPr algn="l">
              <a:lnSpc>
                <a:spcPct val="128000"/>
              </a:lnSpc>
              <a:spcBef>
                <a:spcPts val="110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Expansion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A9DA5"/>
                </a:solidFill>
                <a:latin typeface="IBM Plex Sans"/>
              </a:rPr>
              <a:t>Financial-crime &amp; fraud units · law enforcement &amp; prosecutors · law firms &amp; disputes teams · corporate investigations &amp; compliance.</a:t>
            </a:r>
          </a:p>
          <a:p>
            <a:pPr algn="l">
              <a:lnSpc>
                <a:spcPct val="128000"/>
              </a:lnSpc>
              <a:spcBef>
                <a:spcPts val="110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Channel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A9DA5"/>
                </a:solidFill>
                <a:latin typeface="IBM Plex Sans"/>
              </a:rPr>
              <a:t>This buyer is organised and reachable. ACFE has ~95k members and ~60k CFEs worldwide, with chapters, conferences and directories — including an Ireland chapter since 2016. The defence bar is the same shape: a competitor reached national presence through a national association and one state bar.</a:t>
            </a:r>
          </a:p>
          <a:p>
            <a:pPr algn="l">
              <a:lnSpc>
                <a:spcPct val="128000"/>
              </a:lnSpc>
              <a:spcBef>
                <a:spcPts val="110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How many of them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9A9DA5"/>
                </a:solidFill>
                <a:latin typeface="IBM Plex Sans"/>
              </a:rPr>
              <a:t>48,000–125,000 evidence-heavy private criminal-defence matters run in the US every year</a:t>
            </a:r>
            <a:r>
              <a:rPr sz="1200" b="0" i="0">
                <a:solidFill>
                  <a:srgbClr val="9A9DA5"/>
                </a:solidFill>
                <a:latin typeface="IBM Plex Sans"/>
              </a:rPr>
              <a:t>, across a target population of one to five thousand practices. The UK adds ~80,200 open Crown Court cases, rising.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5806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33B4C"/>
                </a:solidFill>
                <a:latin typeface="IBM Plex Sans"/>
              </a:rPr>
              <a:t>This buyer receives evidence, cannot collect it, and cannot buy the analytics the other side runs on.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E33B4C"/>
                </a:solidFill>
                <a:latin typeface="IBM Plex Sans"/>
              </a:rPr>
              <a:t>That is the whole opportunity.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CUSTOMER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7F7F8"/>
                </a:solidFill>
                <a:latin typeface="Space Grotesk"/>
              </a:rPr>
              <a:t>Today an evidence-heavy case costs $38k–$139k.
With Loupe, $16k–$20k.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0428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DA5"/>
                </a:solidFill>
                <a:latin typeface="IBM Plex Sans"/>
              </a:rPr>
              <a:t>Same case, same evidence, both columns. Ranges run from a two-phone fraud matter to a ten-device federal case with a document production.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834640"/>
          <a:ext cx="106344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2423160"/>
                <a:gridCol w="2450592"/>
              </a:tblGrid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9A9DA5"/>
                          </a:solidFill>
                          <a:latin typeface="IBM Plex Sans"/>
                        </a:rPr>
                        <a:t>Per evidence-heavy case</a:t>
                      </a:r>
                    </a:p>
                  </a:txBody>
                  <a:tcPr marL="109728" marT="36576" marB="36576">
                    <a:solidFill>
                      <a:srgbClr val="0B0C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9A9DA5"/>
                          </a:solidFill>
                          <a:latin typeface="IBM Plex Sans"/>
                        </a:rPr>
                        <a:t>Today</a:t>
                      </a:r>
                    </a:p>
                  </a:txBody>
                  <a:tcPr marL="109728" marT="36576" marB="36576">
                    <a:solidFill>
                      <a:srgbClr val="0B0C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E33B4C"/>
                          </a:solidFill>
                          <a:latin typeface="IBM Plex Sans"/>
                        </a:rPr>
                        <a:t>With Loupe</a:t>
                      </a:r>
                    </a:p>
                  </a:txBody>
                  <a:tcPr marL="109728" marT="36576" marB="36576">
                    <a:solidFill>
                      <a:srgbClr val="0B0C0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F7F7F8"/>
                          </a:solidFill>
                          <a:latin typeface="IBM Plex Sans"/>
                        </a:rPr>
                        <a:t>Forensic extraction — devices still go to a vendor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9A9DA5"/>
                          </a:solidFill>
                          <a:latin typeface="IBM Plex Sans"/>
                        </a:rPr>
                        <a:t>$3,650 – $8,450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33B4C"/>
                          </a:solidFill>
                          <a:latin typeface="IBM Plex Sans"/>
                        </a:rPr>
                        <a:t>$3,650 – $8,450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F7F7F8"/>
                          </a:solidFill>
                          <a:latin typeface="IBM Plex Sans"/>
                        </a:rPr>
                        <a:t>Processing, hosting and examiner analysis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9A9DA5"/>
                          </a:solidFill>
                          <a:latin typeface="IBM Plex Sans"/>
                        </a:rPr>
                        <a:t>$34,200 – $130,575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33B4C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F7F7F8"/>
                          </a:solidFill>
                          <a:latin typeface="IBM Plex Sans"/>
                        </a:rPr>
                        <a:t>Loupe, per matter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9A9DA5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33B4C"/>
                          </a:solidFill>
                          <a:latin typeface="IBM Plex Sans"/>
                        </a:rPr>
                        <a:t>$12,000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7F7F8"/>
                          </a:solidFill>
                          <a:latin typeface="IBM Plex Sans"/>
                        </a:rPr>
                        <a:t>Cash per case</a:t>
                      </a:r>
                    </a:p>
                  </a:txBody>
                  <a:tcPr marL="109728" marT="45720" marB="45720">
                    <a:solidFill>
                      <a:srgbClr val="11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7F7F8"/>
                          </a:solidFill>
                          <a:latin typeface="IBM Plex Sans"/>
                        </a:rPr>
                        <a:t>$37,850 – $139,025</a:t>
                      </a:r>
                    </a:p>
                  </a:txBody>
                  <a:tcPr marL="109728" marT="45720" marB="45720">
                    <a:solidFill>
                      <a:srgbClr val="11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7F7F8"/>
                          </a:solidFill>
                          <a:latin typeface="IBM Plex Sans"/>
                        </a:rPr>
                        <a:t>$15,650 – $20,450</a:t>
                      </a:r>
                    </a:p>
                  </a:txBody>
                  <a:tcPr marL="109728" marT="45720" marB="45720">
                    <a:solidFill>
                      <a:srgbClr val="11121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F7F7F8"/>
                          </a:solidFill>
                          <a:latin typeface="IBM Plex Sans"/>
                        </a:rPr>
                        <a:t>Investigator and paralegal hours on evidence handling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9A9DA5"/>
                          </a:solidFill>
                          <a:latin typeface="IBM Plex Sans"/>
                        </a:rPr>
                        <a:t>58 – 100 hrs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33B4C"/>
                          </a:solidFill>
                          <a:latin typeface="IBM Plex Sans"/>
                        </a:rPr>
                        <a:t>29 – 50 hrs</a:t>
                      </a:r>
                    </a:p>
                  </a:txBody>
                  <a:tcPr marL="109728" marT="45720" marB="45720">
                    <a:solidFill>
                      <a:srgbClr val="0B0C0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85232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7F8"/>
                </a:solidFill>
                <a:latin typeface="IBM Plex Sans"/>
              </a:rPr>
              <a:t>Saved: $22,000–$119,000 and 29–50 hours per case.</a:t>
            </a:r>
            <a:r>
              <a:rPr sz="1600" b="0" i="0">
                <a:solidFill>
                  <a:srgbClr val="F7F7F8"/>
                </a:solidFill>
                <a:latin typeface="IBM Plex Sans"/>
              </a:rPr>
              <a:t> Across a practice running fifteen to thirty evidence-heavy matters a year, that is </a:t>
            </a:r>
            <a:r>
              <a:rPr sz="1600" b="1" i="0">
                <a:solidFill>
                  <a:srgbClr val="F7F7F8"/>
                </a:solidFill>
                <a:latin typeface="IBM Plex Sans"/>
              </a:rPr>
              <a:t>$0.6M–$1.4M and 550–1,150 hours returned.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300" b="0" i="0">
                <a:solidFill>
                  <a:srgbClr val="9A9DA5"/>
                </a:solidFill>
                <a:latin typeface="IBM Plex Sans"/>
              </a:rPr>
              <a:t>The extraction bill is unchanged — we analyse what was produced, we do not acquire it. Everything downstream of it is what we replace.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GROWTH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7F7F8"/>
                </a:solidFill>
                <a:latin typeface="Space Grotesk"/>
              </a:rPr>
              <a:t>Ten million in ARR is 104 firms
and under 2% of one market.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74519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DA5"/>
                </a:solidFill>
                <a:latin typeface="IBM Plex Sans"/>
              </a:rPr>
              <a:t>Priced at a blended $12,000 per matter. A boutique running eight evidence-heavy matters a year is worth $96,000 annually; an active practice at twenty is worth $240,000. These figures use the conservative rate throughout.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852928"/>
            <a:ext cx="2697480" cy="3054096"/>
          </a:xfrm>
          <a:prstGeom prst="rect">
            <a:avLst/>
          </a:prstGeom>
          <a:solidFill>
            <a:srgbClr val="111216"/>
          </a:solidFill>
          <a:ln w="15875">
            <a:solidFill>
              <a:srgbClr val="3B3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544" y="2999232"/>
            <a:ext cx="240487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33B4C"/>
                </a:solidFill>
                <a:latin typeface="IBM Plex Mono"/>
              </a:rPr>
              <a:t>STAGE 1 · PROOF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Space Grotesk"/>
              </a:rPr>
              <a:t>Owl &amp; Ireland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1" i="0">
                <a:solidFill>
                  <a:srgbClr val="F7F7F8"/>
                </a:solidFill>
                <a:latin typeface="Space Grotesk"/>
              </a:rPr>
              <a:t>$0.5M  ARR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E33B4C"/>
                </a:solidFill>
                <a:latin typeface="IBM Plex Mono"/>
              </a:rPr>
              <a:t>5 customers
42 matters / yr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9A9DA5"/>
                </a:solidFill>
                <a:latin typeface="IBM Plex Sans"/>
              </a:rPr>
              <a:t>References and a validated price. Not a revenue stage.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48456" y="2852928"/>
            <a:ext cx="2697480" cy="3054096"/>
          </a:xfrm>
          <a:prstGeom prst="rect">
            <a:avLst/>
          </a:prstGeom>
          <a:solidFill>
            <a:srgbClr val="111216"/>
          </a:solidFill>
          <a:ln w="15875">
            <a:solidFill>
              <a:srgbClr val="B4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2999232"/>
            <a:ext cx="240487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33B4C"/>
                </a:solidFill>
                <a:latin typeface="IBM Plex Mono"/>
              </a:rPr>
              <a:t>STAGE 2 · THE ENGINE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Space Grotesk"/>
              </a:rPr>
              <a:t>United States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1" i="0">
                <a:solidFill>
                  <a:srgbClr val="F7F7F8"/>
                </a:solidFill>
                <a:latin typeface="Space Grotesk"/>
              </a:rPr>
              <a:t>$5M  ARR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E33B4C"/>
                </a:solidFill>
                <a:latin typeface="IBM Plex Mono"/>
              </a:rPr>
              <a:t>52 customers
417 matters / yr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9A9DA5"/>
                </a:solidFill>
                <a:latin typeface="IBM Plex Sans"/>
              </a:rPr>
              <a:t>0.3–0.9% of 48,000–125,000 evidence-heavy matters a year.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9672" y="2852928"/>
            <a:ext cx="2697480" cy="3054096"/>
          </a:xfrm>
          <a:prstGeom prst="rect">
            <a:avLst/>
          </a:prstGeom>
          <a:solidFill>
            <a:srgbClr val="111216"/>
          </a:solidFill>
          <a:ln w="15875">
            <a:solidFill>
              <a:srgbClr val="B4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65976" y="2999232"/>
            <a:ext cx="240487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33B4C"/>
                </a:solidFill>
                <a:latin typeface="IBM Plex Mono"/>
              </a:rPr>
              <a:t>STAGE 3 · SECOND GEOGRAPHY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Space Grotesk"/>
              </a:rPr>
              <a:t>+ United Kingdom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1" i="0">
                <a:solidFill>
                  <a:srgbClr val="F7F7F8"/>
                </a:solidFill>
                <a:latin typeface="Space Grotesk"/>
              </a:rPr>
              <a:t>$10M  ARR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E33B4C"/>
                </a:solidFill>
                <a:latin typeface="IBM Plex Mono"/>
              </a:rPr>
              <a:t>104 customers
833 matters / yr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9A9DA5"/>
                </a:solidFill>
                <a:latin typeface="IBM Plex Sans"/>
              </a:rPr>
              <a:t>80,200 open Crown Court cases, rising. Same buyer, same channel.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0888" y="2852928"/>
            <a:ext cx="2697480" cy="3054096"/>
          </a:xfrm>
          <a:prstGeom prst="rect">
            <a:avLst/>
          </a:prstGeom>
          <a:solidFill>
            <a:srgbClr val="111216"/>
          </a:solidFill>
          <a:ln w="15875">
            <a:solidFill>
              <a:srgbClr val="B416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37192" y="2999232"/>
            <a:ext cx="240487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33B4C"/>
                </a:solidFill>
                <a:latin typeface="IBM Plex Mono"/>
              </a:rPr>
              <a:t>STAGE 4 · EXPANSION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F7F7F8"/>
                </a:solidFill>
                <a:latin typeface="Space Grotesk"/>
              </a:rPr>
              <a:t>+ Europe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1" i="0">
                <a:solidFill>
                  <a:srgbClr val="F7F7F8"/>
                </a:solidFill>
                <a:latin typeface="Space Grotesk"/>
              </a:rPr>
              <a:t>$25M  ARR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E33B4C"/>
                </a:solidFill>
                <a:latin typeface="IBM Plex Mono"/>
              </a:rPr>
              <a:t>260 customers
2,083 matters / yr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9A9DA5"/>
                </a:solidFill>
                <a:latin typeface="IBM Plex Sans"/>
              </a:rPr>
              <a:t>$2.41B forensics, $6.81B legal tech. Partner-led per jurisdiction.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6188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7F7F8"/>
                </a:solidFill>
                <a:latin typeface="IBM Plex Sans"/>
              </a:rPr>
              <a:t>Each stage is gated on one thing, which is what makes the sequence testable.</a:t>
            </a:r>
            <a:r>
              <a:rPr sz="1250" b="0" i="0">
                <a:solidFill>
                  <a:srgbClr val="F7F7F8"/>
                </a:solidFill>
                <a:latin typeface="IBM Plex Sans"/>
              </a:rPr>
              <a:t> Stage 1: a price validated on real matters. Stage 2: the bar-association channel converting. Stage 3: the per-matter model rebuilt on UK vendor and Legal Aid Agency rates. Stage 4: partners, because every jurisdiction carries its own procedure and disclosure regime.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7F7F8"/>
                </a:solidFill>
                <a:latin typeface="Space Grotesk"/>
              </a:rPr>
              <a:t>We didn't just research this market.
We worked in it — from both sides.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65960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12848"/>
            <a:ext cx="32918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7F7F8"/>
                </a:solidFill>
                <a:latin typeface="Space Grotesk"/>
              </a:rPr>
              <a:t>Neil Byrne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CEO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0" i="0">
                <a:solidFill>
                  <a:srgbClr val="9A9DA5"/>
                </a:solidFill>
                <a:latin typeface="IBM Plex Sans"/>
              </a:rPr>
              <a:t>Seven years at Siren, the Irish investigative-intelligence platform — the same category, selling to law enforcement, intelligence and financial-crime teams. </a:t>
            </a:r>
            <a:r>
              <a:rPr sz="1100" b="1" i="0">
                <a:solidFill>
                  <a:srgbClr val="9A9DA5"/>
                </a:solidFill>
                <a:latin typeface="IBM Plex Sans"/>
              </a:rPr>
              <a:t>Solutions engineer: managed customer accounts and built the customisations each client needed to make the platform fit their process.</a:t>
            </a:r>
            <a:r>
              <a:rPr sz="1100" b="0" i="0">
                <a:solidFill>
                  <a:srgbClr val="9A9DA5"/>
                </a:solidFill>
                <a:latin typeface="IBM Plex Sans"/>
              </a:rPr>
              <a:t> Spoke with hundreds of analysts across conference talks and deployments. Now a sales solutions engineer at Udemy across large-enterprise and strategic accounts — the same discipline at enterprise scale. 10+ years in data engineering and AI systems.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E33B4C"/>
                </a:solidFill>
                <a:latin typeface="IBM Plex Sans"/>
              </a:rPr>
              <a:t>Full-time on close.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212848"/>
            <a:ext cx="32918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7F7F8"/>
                </a:solidFill>
                <a:latin typeface="Space Grotesk"/>
              </a:rPr>
              <a:t>Conor Bowles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CTO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9A9DA5"/>
                </a:solidFill>
                <a:latin typeface="IBM Plex Sans"/>
              </a:rPr>
              <a:t>Architect of the case model.</a:t>
            </a:r>
            <a:r>
              <a:rPr sz="1100" b="0" i="0">
                <a:solidFill>
                  <a:srgbClr val="9A9DA5"/>
                </a:solidFill>
                <a:latin typeface="IBM Plex Sans"/>
              </a:rPr>
              <a:t> The approach the platform rests on is his: extract entities and events from evidence with an LLM at ingestion, resolve them into a graph, and query that concrete structure afterwards — so an answer is a traversal over modelled evidence, not a retrieval over text. He wrote the first commit and has led engineering since. </a:t>
            </a:r>
            <a:r>
              <a:rPr sz="1100" b="1" i="0">
                <a:solidFill>
                  <a:srgbClr val="9A9DA5"/>
                </a:solidFill>
                <a:latin typeface="IBM Plex Sans"/>
              </a:rPr>
              <a:t>Drives the enterprise platform</a:t>
            </a:r>
            <a:r>
              <a:rPr sz="1100" b="0" i="0">
                <a:solidFill>
                  <a:srgbClr val="9A9DA5"/>
                </a:solidFill>
                <a:latin typeface="IBM Plex Sans"/>
              </a:rPr>
              <a:t>, while features are proven on live casework first and promoted once they mature — so nothing reaches the deployable product until it has survived a real matter.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E33B4C"/>
                </a:solidFill>
                <a:latin typeface="IBM Plex Sans"/>
              </a:rPr>
              <a:t>Full-time on close.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2212848"/>
            <a:ext cx="32918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7F7F8"/>
                </a:solidFill>
                <a:latin typeface="Space Grotesk"/>
              </a:rPr>
              <a:t>Alexandra Solórzano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CPO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0" i="0">
                <a:solidFill>
                  <a:srgbClr val="9A9DA5"/>
                </a:solidFill>
                <a:latin typeface="IBM Plex Sans"/>
              </a:rPr>
              <a:t>10+ years as a licensed private investigator on federal criminal defence and financial fraud casework — and the product's direction, daily. </a:t>
            </a:r>
            <a:r>
              <a:rPr sz="1100" b="1" i="0">
                <a:solidFill>
                  <a:srgbClr val="9A9DA5"/>
                </a:solidFill>
                <a:latin typeface="IBM Plex Sans"/>
              </a:rPr>
              <a:t>Multiple calls a week; the backlog is generated from live matters as she works them</a:t>
            </a:r>
            <a:r>
              <a:rPr sz="1100" b="0" i="0">
                <a:solidFill>
                  <a:srgbClr val="9A9DA5"/>
                </a:solidFill>
                <a:latin typeface="IBM Plex Sans"/>
              </a:rPr>
              <a:t>, which is why development has never run on a roadmap invented in advance. A grounded visionary: every feature traces to a real case, and she has run federal cases to completion inside the platform. US-based.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E33B4C"/>
                </a:solidFill>
                <a:latin typeface="IBM Plex Sans"/>
              </a:rPr>
              <a:t>The domain authority — and the customer the product was built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53328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7F7F8"/>
                </a:solidFill>
                <a:latin typeface="IBM Plex Sans"/>
              </a:rPr>
              <a:t>Seven years building investigative intelligence software for enterprise buyers, and a decade running federal casework as the kind of investigator who has to live with the result. </a:t>
            </a:r>
            <a:r>
              <a:rPr sz="1350" b="1" i="0">
                <a:solidFill>
                  <a:srgbClr val="F7F7F8"/>
                </a:solidFill>
                <a:latin typeface="IBM Plex Sans"/>
              </a:rPr>
              <a:t>Our CPO has run federal cases to completion inside this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STATUS AND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7F7F8"/>
                </a:solidFill>
                <a:latin typeface="Space Grotesk"/>
              </a:rPr>
              <a:t>Loupe is in production use on real federal casework.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56235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7F8"/>
                </a:solidFill>
                <a:latin typeface="IBM Plex Sans"/>
              </a:rPr>
              <a:t>Built inside </a:t>
            </a:r>
            <a:r>
              <a:rPr sz="1300" b="1" i="0">
                <a:solidFill>
                  <a:srgbClr val="F7F7F8"/>
                </a:solidFill>
                <a:latin typeface="IBM Plex Sans"/>
              </a:rPr>
              <a:t>Owl Consultancy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, a working US private-investigations practice, and used there to carry federal cases </a:t>
            </a:r>
            <a:r>
              <a:rPr sz="1300" b="1" i="0">
                <a:solidFill>
                  <a:srgbClr val="F7F7F8"/>
                </a:solidFill>
                <a:latin typeface="IBM Plex Sans"/>
              </a:rPr>
              <a:t>to completion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 — multi-gigabyte phone extractions, tens of thousands of curated financial transactions, full document corpora. </a:t>
            </a:r>
            <a:r>
              <a:rPr sz="1300" b="1" i="0">
                <a:solidFill>
                  <a:srgbClr val="F7F7F8"/>
                </a:solidFill>
                <a:latin typeface="IBM Plex Sans"/>
              </a:rPr>
              <a:t>Three attorneys on those cases have been given access to it.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 Attorneys have retained the practice specifically because of the platform — unprompted, before any marketing existed.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1" i="0">
                <a:solidFill>
                  <a:srgbClr val="E33B4C"/>
                </a:solidFill>
                <a:latin typeface="IBM Plex Sans"/>
              </a:rPr>
              <a:t>This is not a prototype seeking a first user. It is an application that works, in the hands of the investigators it was built for, on cases with real stakes.</a:t>
            </a:r>
          </a:p>
          <a:p>
            <a:pPr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</a:pPr>
            <a:r>
              <a:rPr sz="1300" b="1" i="0">
                <a:solidFill>
                  <a:srgbClr val="F7F7F8"/>
                </a:solidFill>
                <a:latin typeface="IBM Plex Sans"/>
              </a:rPr>
              <a:t>First external pilot in motion.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9A9DA5"/>
                </a:solidFill>
                <a:latin typeface="IBM Plex Sans"/>
              </a:rPr>
              <a:t>A US private-investigations firm led by a former FBI undercover agent — clients across Miami, New York, California and the Midwest — has agreed to send its next large-document matter through Loupe as a paid trial at cost, and to put a mutual MSA in front of us. Sourced through casework, not marketing.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2057400"/>
            <a:ext cx="4526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Built so far, verifiable</a:t>
            </a:r>
          </a:p>
          <a:p>
            <a:pPr algn="l" marL="274320" indent="-274320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200" b="0" i="0">
                <a:solidFill>
                  <a:srgbClr val="9A9DA5"/>
                </a:solidFill>
                <a:latin typeface="IBM Plex Sans"/>
              </a:rPr>
              <a:t>Federal cases carried to completion — multi-gigabyte phone extractions, tens of thousands of curated financial transactions, full document corpora</a:t>
            </a:r>
          </a:p>
          <a:p>
            <a:pPr algn="l" marL="274320" indent="-274320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200" b="0" i="0">
                <a:solidFill>
                  <a:srgbClr val="9A9DA5"/>
                </a:solidFill>
                <a:latin typeface="IBM Plex Sans"/>
              </a:rPr>
              <a:t>A React console, a FastAPI case API and a separate asynchronous evidence engine, built since December 2025 by two engineers</a:t>
            </a:r>
          </a:p>
          <a:p>
            <a:pPr algn="l" marL="274320" indent="-274320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200" b="0" i="0">
                <a:solidFill>
                  <a:srgbClr val="9A9DA5"/>
                </a:solidFill>
                <a:latin typeface="IBM Plex Sans"/>
              </a:rPr>
              <a:t>Neo4j (case graph) · Postgres (cases, auth, audit) · ChromaDB (retrieval) · Redis (jobs)</a:t>
            </a:r>
          </a:p>
          <a:p>
            <a:pPr algn="l" marL="274320" indent="-274320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200" b="0" i="0">
                <a:solidFill>
                  <a:srgbClr val="9A9DA5"/>
                </a:solidFill>
                <a:latin typeface="IBM Plex Sans"/>
              </a:rPr>
              <a:t>Three AI providers behind one routing policy — the model is a swappable component</a:t>
            </a:r>
          </a:p>
          <a:p>
            <a:pPr algn="l" marL="274320" indent="-274320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200" b="0" i="0">
                <a:solidFill>
                  <a:srgbClr val="9A9DA5"/>
                </a:solidFill>
                <a:latin typeface="IBM Plex Sans"/>
              </a:rPr>
              <a:t>Single-tenant deployment: one isolated stack per customer</a:t>
            </a:r>
          </a:p>
          <a:p>
            <a:pPr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</a:pPr>
            <a:r>
              <a:rPr sz="1200" b="1" i="0">
                <a:solidFill>
                  <a:srgbClr val="E33B4C"/>
                </a:solidFill>
                <a:latin typeface="IBM Plex Sans"/>
              </a:rPr>
              <a:t>Release discipline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F7F7F8"/>
                </a:solidFill>
                <a:latin typeface="IBM Plex Sans"/>
              </a:rPr>
              <a:t>Onboarding an external customer's evidence runs behind a </a:t>
            </a:r>
            <a:r>
              <a:rPr sz="1200" b="1" i="0">
                <a:solidFill>
                  <a:srgbClr val="F7F7F8"/>
                </a:solidFill>
                <a:latin typeface="IBM Plex Sans"/>
              </a:rPr>
              <a:t>12-stage security-gated release plan. No external case data enters the platform until the security, isolation, backup and legal stages pass.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9A9DA5"/>
                </a:solidFill>
                <a:latin typeface="IBM Plex Sans"/>
              </a:rPr>
              <a:t>Roadmap: a 13-epic board takes Loupe from a platform that works for the practice it was built in to one that scales across many. Depth, not existence.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defRPr>
                <a:latin typeface="IBM Plex Mono"/>
              </a:defRPr>
            </a:pPr>
            <a:r>
              <a:rPr sz="1100" b="1" i="0">
                <a:solidFill>
                  <a:srgbClr val="E33B4C"/>
                </a:solidFill>
                <a:latin typeface="IBM Plex Mono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7F7F8"/>
                </a:solidFill>
                <a:latin typeface="Space Grotesk"/>
              </a:rPr>
              <a:t>€100k. What it buys: the first paying customer
outside the practice that built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65960"/>
            <a:ext cx="1005840" cy="31750"/>
          </a:xfrm>
          <a:prstGeom prst="rect">
            <a:avLst/>
          </a:prstGeom>
          <a:solidFill>
            <a:srgbClr val="E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12848"/>
            <a:ext cx="5806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7F8"/>
                </a:solidFill>
                <a:latin typeface="IBM Plex Sans"/>
              </a:rPr>
              <a:t>The platform works and has closed real federal cases. What stands between it and external revenue is the </a:t>
            </a:r>
            <a:r>
              <a:rPr sz="1400" b="1" i="0">
                <a:solidFill>
                  <a:srgbClr val="F7F7F8"/>
                </a:solidFill>
                <a:latin typeface="IBM Plex Sans"/>
              </a:rPr>
              <a:t>security gate</a:t>
            </a:r>
            <a:r>
              <a:rPr sz="1400" b="0" i="0">
                <a:solidFill>
                  <a:srgbClr val="F7F7F8"/>
                </a:solidFill>
                <a:latin typeface="IBM Plex Sans"/>
              </a:rPr>
              <a:t> — the isolation, backup and legal stages that let another firm's privileged evidence enter the system — and the pilot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64992"/>
            <a:ext cx="5806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33B4C"/>
                </a:solidFill>
                <a:latin typeface="IBM Plex Sans"/>
              </a:rPr>
              <a:t>Use of funds</a:t>
            </a:r>
          </a:p>
          <a:p>
            <a:pPr algn="l" marL="274320" indent="-274320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300" b="1" i="0">
                <a:solidFill>
                  <a:srgbClr val="F7F7F8"/>
                </a:solidFill>
                <a:latin typeface="IBM Plex Sans"/>
              </a:rPr>
              <a:t>Two founders full-time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 — clearing the security gate and running the agreed pilot to a signed contract. The pilot candidate is already secured.</a:t>
            </a:r>
          </a:p>
          <a:p>
            <a:pPr algn="l" marL="274320" indent="-274320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300" b="1" i="0">
                <a:solidFill>
                  <a:srgbClr val="F7F7F8"/>
                </a:solidFill>
                <a:latin typeface="IBM Plex Sans"/>
              </a:rPr>
              <a:t>The security evidence a firm's counsel asks for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 — Cyber Essentials, an independent penetration test and a written security package, plus starting the SOC 2 observation window. Cheap and fast; full certification is bought when a deal requires it.</a:t>
            </a:r>
          </a:p>
          <a:p>
            <a:pPr algn="l" marL="274320" indent="-274320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300" b="1" i="0">
                <a:solidFill>
                  <a:srgbClr val="F7F7F8"/>
                </a:solidFill>
                <a:latin typeface="IBM Plex Sans"/>
              </a:rPr>
              <a:t>Single-tenant infrastructure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 for the first external customers — one instance each, so it scales with customers rather than ahead of them.</a:t>
            </a:r>
          </a:p>
          <a:p>
            <a:pPr algn="l" marL="274320" indent="-274320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300" b="1" i="0">
                <a:solidFill>
                  <a:srgbClr val="F7F7F8"/>
                </a:solidFill>
                <a:latin typeface="IBM Plex Sans"/>
              </a:rPr>
              <a:t>Processing and inference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 across pilot matters — the cost model the pilot establishes.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2212848"/>
            <a:ext cx="44348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33B4C"/>
                </a:solidFill>
                <a:latin typeface="IBM Plex Sans"/>
              </a:rPr>
              <a:t>What we want from NDRC beyond capital</a:t>
            </a:r>
          </a:p>
          <a:p>
            <a:pPr algn="l" marL="274320" indent="-274320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300" b="1" i="0">
                <a:solidFill>
                  <a:srgbClr val="F7F7F8"/>
                </a:solidFill>
                <a:latin typeface="IBM Plex Sans"/>
              </a:rPr>
              <a:t>Go-to-market guidance.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 The channel is identified — bar associations and professional bodies — and pricing is per-matter rather than per-seat. Both need pressure-testing by people who have built a repeatable motion.</a:t>
            </a:r>
          </a:p>
          <a:p>
            <a:pPr algn="l" marL="274320" indent="-274320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Dublin base at Dogpatch Labs</a:t>
            </a:r>
          </a:p>
          <a:p>
            <a:pPr algn="l" marL="274320" indent="-274320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EIR time on pricing structure and enterprise sales motion</a:t>
            </a:r>
          </a:p>
          <a:p>
            <a:pPr algn="l" marL="274320" indent="-274320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>
                <a:solidFill>
                  <a:srgbClr val="E33B4C"/>
                </a:solidFill>
                <a:latin typeface="IBM Plex Sans"/>
              </a:rPr>
              <a:t>—   </a:t>
            </a:r>
            <a:r>
              <a:rPr sz="1300" b="0" i="0">
                <a:solidFill>
                  <a:srgbClr val="F7F7F8"/>
                </a:solidFill>
                <a:latin typeface="IBM Plex Sans"/>
              </a:rPr>
              <a:t>Introductions into Irish and UK professional-services buyers — ACFE Ireland, Chartered Accountants Ireland forensic group, Law Society criminal law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