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line only. Do not open with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 STORY — this is your strongest beat.</a:t>
            </a:r>
          </a:p>
          <a:p/>
          <a:p>
            <a:r>
              <a:t>"We tried to buy it, it failed on a live case, so we built it" is behavioural</a:t>
            </a:r>
          </a:p>
          <a:p>
            <a:r>
              <a:t>evidence of a market gap. It outranks any number of stated-preference</a:t>
            </a:r>
          </a:p>
          <a:p>
            <a:r>
              <a:t>interviews, and investors know it.</a:t>
            </a:r>
          </a:p>
          <a:p/>
          <a:p>
            <a:r>
              <a:t>Between us we have seen this problem from both sides: seven years building</a:t>
            </a:r>
          </a:p>
          <a:p>
            <a:r>
              <a:t>investigative-intelligence software for enterprise buyers, and a decade running</a:t>
            </a:r>
          </a:p>
          <a:p>
            <a:r>
              <a:t>federal casework as an investigator using it. When our CPO needed a platform for</a:t>
            </a:r>
          </a:p>
          <a:p>
            <a:r>
              <a:t>live federal casework we went looking for one, evaluated an existing</a:t>
            </a:r>
          </a:p>
          <a:p>
            <a:r>
              <a:t>investigative intelligence platform against a real case, and it could not work</a:t>
            </a:r>
          </a:p>
          <a:p>
            <a:r>
              <a:t>the case the way a real investigation needs.</a:t>
            </a:r>
          </a:p>
          <a:p/>
          <a:p>
            <a:r>
              <a:t>DELIBERATELY NOT SAID: anything about what you personally built for a former</a:t>
            </a:r>
          </a:p>
          <a:p>
            <a:r>
              <a:t>employer's customers, or any suggestion that Loupe derives from it. Your CV</a:t>
            </a:r>
          </a:p>
          <a:p>
            <a:r>
              <a:t>stands on its own on slide 7.</a:t>
            </a:r>
          </a:p>
          <a:p/>
          <a:p>
            <a:r>
              <a:t>JUDGEMENT CALLS</a:t>
            </a:r>
          </a:p>
          <a:p>
            <a:r>
              <a:t>1. Name Octostar or not. Naming is more credible; vagueness gets discounted.</a:t>
            </a:r>
          </a:p>
          <a:p>
            <a:r>
              <a:t>   Only name it if ready for "what specifically failed?" — have that answer</a:t>
            </a:r>
          </a:p>
          <a:p>
            <a:r>
              <a:t>   written down before you present.</a:t>
            </a:r>
          </a:p>
          <a:p>
            <a:r>
              <a:t>2. NEVER let Siren be the platform that failed. That was a different platform.</a:t>
            </a:r>
          </a:p>
          <a:p>
            <a:r>
              <a:t>   Siren is Irish, EI-backed, Dublin is small. When Siren comes up it is a</a:t>
            </a:r>
          </a:p>
          <a:p>
            <a:r>
              <a:t>   credential and a compliment: very good at what it is built for — enterprise</a:t>
            </a:r>
          </a:p>
          <a:p>
            <a:r>
              <a:t>   LE and intelligence buyers who arrive with budget for configuration and</a:t>
            </a:r>
          </a:p>
          <a:p>
            <a:r>
              <a:t>   support. You are not competing with it and not criticising it. You are</a:t>
            </a:r>
          </a:p>
          <a:p>
            <a:r>
              <a:t>   serving a tier its model was never aimed 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6% stat is the strongest number in your material. The entire</a:t>
            </a:r>
          </a:p>
          <a:p>
            <a:r>
              <a:t>product is an answer to it.</a:t>
            </a:r>
          </a:p>
          <a:p/>
          <a:p>
            <a:r>
              <a:t>Say it, pause, then move to slide 4 and show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screenshots only. Resist the feature list.</a:t>
            </a:r>
          </a:p>
          <a:p/>
          <a:p>
            <a:r>
              <a:t>The right-hand screenshot is the whole pitch. An investor who understands that</a:t>
            </a:r>
          </a:p>
          <a:p>
            <a:r>
              <a:t>one click understands the company. Rehearse it as a live demo if you get a</a:t>
            </a:r>
          </a:p>
          <a:p>
            <a:r>
              <a:t>meeting. Capture it with the RESULT GRAPH VISIBLE beside the cited text — that</a:t>
            </a:r>
          </a:p>
          <a:p>
            <a:r>
              <a:t>shows the answer being grounded and structured in one frame, and it keeps the</a:t>
            </a:r>
          </a:p>
          <a:p>
            <a:r>
              <a:t>graph in the deck where it belongs: as a result, not a landing page.</a:t>
            </a:r>
          </a:p>
          <a:p/>
          <a:p>
            <a:r>
              <a:t>DO NOT LEAD WITH THE CASE GRAPH. A hairball is the most clichéd image in this</a:t>
            </a:r>
          </a:p>
          <a:p>
            <a:r>
              <a:t>category — Palantir, i2, Siren, Linkurious all lead with it. It puts you in the</a:t>
            </a:r>
          </a:p>
          <a:p>
            <a:r>
              <a:t>comparison slides 5 and 6 spend their time declining, and nobody parses a dense</a:t>
            </a:r>
          </a:p>
          <a:p>
            <a:r>
              <a:t>graph at slide scale anyway. Same reason the product's default view is moving off</a:t>
            </a:r>
          </a:p>
          <a:p>
            <a:r>
              <a:t>it: a case that opens on ten thousand nodes is useless to a working investigator.</a:t>
            </a:r>
          </a:p>
          <a:p/>
          <a:p>
            <a:r>
              <a:t>NAME THE LOUPE. A Loupe is the product's core curation object — a bonded</a:t>
            </a:r>
          </a:p>
          <a:p>
            <a:r>
              <a:t>collection of documents, highlighted passages, entities and events, with its own</a:t>
            </a:r>
          </a:p>
          <a:p>
            <a:r>
              <a:t>identity and description, bound together to explain an event, a sequence or a</a:t>
            </a:r>
          </a:p>
          <a:p>
            <a:r>
              <a:t>thing. It is why the company is called what it is, and it is the thing a</a:t>
            </a:r>
          </a:p>
          <a:p>
            <a:r>
              <a:t>competitor cannot copy by improving their extraction. Pre-empts "isn't this just</a:t>
            </a:r>
          </a:p>
          <a:p>
            <a:r>
              <a:t>an extraction pipeline?" before slide 5 has to argue it.</a:t>
            </a:r>
          </a:p>
          <a:p/>
          <a:p>
            <a:r>
              <a:t>A Loupe is also the better picture: a timeline reads in three seconds, it shows</a:t>
            </a:r>
          </a:p>
          <a:p>
            <a:r>
              <a:t>evidence a person bound deliberately rather than connections a machine inferred,</a:t>
            </a:r>
          </a:p>
          <a:p>
            <a:r>
              <a:t>and no competitor's deck has this image.</a:t>
            </a:r>
          </a:p>
          <a:p/>
          <a:p>
            <a:r>
              <a:t>Keep the graph for the demo and for the answer when a technical partner asks what</a:t>
            </a:r>
          </a:p>
          <a:p>
            <a:r>
              <a:t>is underneath. And if you get to demo anything beyond the citation click, demo the</a:t>
            </a:r>
          </a:p>
          <a:p>
            <a:r>
              <a:t>Loupe being built: highlight five sentences across three documents, bind them, and</a:t>
            </a:r>
          </a:p>
          <a:p>
            <a:r>
              <a:t>you have a fully evidenced narrative viewable as a timeline or a graph.</a:t>
            </a:r>
          </a:p>
          <a:p/>
          <a:p>
            <a:r>
              <a:t>IN YOUR POCKET: "We moved the default view off the graph because opening a case on</a:t>
            </a:r>
          </a:p>
          <a:p>
            <a:r>
              <a:t>ten thousand nodes is what every tool in this category does, and it's useless to a</a:t>
            </a:r>
          </a:p>
          <a:p>
            <a:r>
              <a:t>working investigator." Small, concrete evidence for slide 6's customer-led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HUMAN JUDGMENT row is the one that answers the question a</a:t>
            </a:r>
          </a:p>
          <a:p>
            <a:r>
              <a:t>technical investor is actually holding: what stops Microsoft GraphRAG</a:t>
            </a:r>
          </a:p>
          <a:p>
            <a:r>
              <a:t>commoditising this in eighteen months? Extraction pipelines will commoditise.</a:t>
            </a:r>
          </a:p>
          <a:p>
            <a:r>
              <a:t>A durable, evidenced record of what an investigator decided mattered, and why,</a:t>
            </a:r>
          </a:p>
          <a:p>
            <a:r>
              <a:t>does not — it accrues per customer, per case, and is worthless to a competitor.</a:t>
            </a:r>
          </a:p>
          <a:p/>
          <a:p>
            <a:r>
              <a:t>THE OBJECTION YOU WILL ACTUALLY GET is not from investors, it's from buyers:</a:t>
            </a:r>
          </a:p>
          <a:p>
            <a:r>
              <a:t>"can't I just do this with a $20 Claude subscription?" You have heard it</a:t>
            </a:r>
          </a:p>
          <a:p>
            <a:r>
              <a:t>directly. Rehearsed answer:</a:t>
            </a:r>
          </a:p>
          <a:p/>
          <a:p>
            <a:r>
              <a:t>  A $20 subscription reads what fits in one conversation and forgets it. It</a:t>
            </a:r>
          </a:p>
          <a:p>
            <a:r>
              <a:t>  cannot hold a 35GB phone extraction, it has no persistent case model, it</a:t>
            </a:r>
          </a:p>
          <a:p>
            <a:r>
              <a:t>  gives you prose instead of citations, and it puts privileged evidence on a</a:t>
            </a:r>
          </a:p>
          <a:p>
            <a:r>
              <a:t>  multi-tenant service. The reason a case costs real money to process is the</a:t>
            </a:r>
          </a:p>
          <a:p>
            <a:r>
              <a:t>  same reason the answer is trustworthy: we read EVERYTHING, not a sample.</a:t>
            </a:r>
          </a:p>
          <a:p/>
          <a:p>
            <a:r>
              <a:t>That last line converts your cost structure from a weakness into proof of the</a:t>
            </a:r>
          </a:p>
          <a:p>
            <a:r>
              <a:t>claim. Use it.</a:t>
            </a:r>
          </a:p>
          <a:p/>
          <a:p>
            <a:r>
              <a:t>THE AGENT — the "What the AI does" row. Loupe's AI does not just answer; it runs</a:t>
            </a:r>
          </a:p>
          <a:p>
            <a:r>
              <a:t>tools against the case model: groups transactions, generates visualisations, drafts</a:t>
            </a:r>
          </a:p>
          <a:p>
            <a:r>
              <a:t>outputs, and ASSEMBLES LOUPES FROM A PLAIN-ENGLISH INSTRUCTION. That matters because</a:t>
            </a:r>
          </a:p>
          <a:p>
            <a:r>
              <a:t>your buyer is making a LABOUR-SUBSTITUTION purchase — the ex-FBI prospect benchmarked</a:t>
            </a:r>
          </a:p>
          <a:p>
            <a:r>
              <a:t>price against the cost of a junior investigator. A Q&amp;A box does not substitute for a</a:t>
            </a:r>
          </a:p>
          <a:p>
            <a:r>
              <a:t>junior. Something that produces the work does.</a:t>
            </a:r>
          </a:p>
          <a:p/>
          <a:p>
            <a:r>
              <a:t>THE STRONGEST VERSION IS NOT "IT RUNS TOOLS" — it's that the unit of work stops being</a:t>
            </a:r>
          </a:p>
          <a:p>
            <a:r>
              <a:t>a query and becomes a HYPOTHESIS. The investigator doesn't arrive at a search box with</a:t>
            </a:r>
          </a:p>
          <a:p>
            <a:r>
              <a:t>a question; they arrive at a blank page and start building the scenarios they need to</a:t>
            </a:r>
          </a:p>
          <a:p>
            <a:r>
              <a:t>test — and the agent assembles the evidence for each one, or shows them it isn't there.</a:t>
            </a:r>
          </a:p>
          <a:p>
            <a:r>
              <a:t>That also closes the loop with slide 4: the Loupe is the namesake object AND the thing</a:t>
            </a:r>
          </a:p>
          <a:p>
            <a:r>
              <a:t>the agent produces, so the moat argument and the agent argument become one argument.</a:t>
            </a:r>
          </a:p>
          <a:p/>
          <a:p>
            <a:r>
              <a:t>  IN YOUR POCKET: "An investigator doesn't have questions, they have theories. Loupe</a:t>
            </a:r>
          </a:p>
          <a:p>
            <a:r>
              <a:t>  is the first tool where the unit of work is a hypothesis rather than a query — you</a:t>
            </a:r>
          </a:p>
          <a:p>
            <a:r>
              <a:t>  describe the scenario you want to test, and the agent builds the Loupe that proves</a:t>
            </a:r>
          </a:p>
          <a:p>
            <a:r>
              <a:t>  or breaks it."</a:t>
            </a:r>
          </a:p>
          <a:p/>
          <a:p>
            <a:r>
              <a:t>  Do NOT use "show me all companies" as the example. That's a saved view, not a</a:t>
            </a:r>
          </a:p>
          <a:p>
            <a:r>
              <a:t>  hypothesis, and it makes the capability sound like faceted search.</a:t>
            </a:r>
          </a:p>
          <a:p/>
          <a:p>
            <a:r>
              <a:t>Two rules when you talk about it:</a:t>
            </a:r>
          </a:p>
          <a:p/>
          <a:p>
            <a:r>
              <a:t>  1. NAME TWO OR THREE CONCRETE OUTPUTS, never "it can do anything." Unbounded</a:t>
            </a:r>
          </a:p>
          <a:p>
            <a:r>
              <a:t>     capability reads as unfocused and gets discounted to zero.</a:t>
            </a:r>
          </a:p>
          <a:p>
            <a:r>
              <a:t>  2. PITCH BOUNDED AGENCY, NOT AUTONOMY. Your market is criminal defence. The</a:t>
            </a:r>
          </a:p>
          <a:p>
            <a:r>
              <a:t>     instant you say "agent that does the work," a domain-aware listener asks what</a:t>
            </a:r>
          </a:p>
          <a:p>
            <a:r>
              <a:t>     happens when it's wrong and who signs their name to it. Answer first:</a:t>
            </a:r>
          </a:p>
          <a:p/>
          <a:p>
            <a:r>
              <a:t>       The agent runs tools across the case, but it cannot invent a fact.</a:t>
            </a:r>
          </a:p>
          <a:p>
            <a:r>
              <a:t>       Everything it produces is built from grounded claims that carry their</a:t>
            </a:r>
          </a:p>
          <a:p>
            <a:r>
              <a:t>       source, and nothing leaves the system without a human verifying it.</a:t>
            </a:r>
          </a:p>
          <a:p/>
          <a:p>
            <a:r>
              <a:t>  And if asked whether the agent is just the model, and therefore commoditising:</a:t>
            </a:r>
          </a:p>
          <a:p>
            <a:r>
              <a:t>  THE TOOLS ARE THE MOAT, NOT THE AGENT. A generic agent over a folder of PDFs</a:t>
            </a:r>
          </a:p>
          <a:p>
            <a:r>
              <a:t>  produces confident garbage. The same agent over a grounded claims ledger and a</a:t>
            </a:r>
          </a:p>
          <a:p>
            <a:r>
              <a:t>  set of Loupes produces work you can check. What it can reach is the product.</a:t>
            </a:r>
          </a:p>
          <a:p/>
          <a:p>
            <a:r>
              <a:t>THE LINE TO USE: "Question-answering AI tells you about your evidence. An agent with</a:t>
            </a:r>
          </a:p>
          <a:p>
            <a:r>
              <a:t>tools produces the work product." Eleven words, and it converts the agent from a</a:t>
            </a:r>
          </a:p>
          <a:p>
            <a:r>
              <a:t>feature into a category distinction.</a:t>
            </a:r>
          </a:p>
          <a:p/>
          <a:p>
            <a:r>
              <a:t>SAFE GROUND — the toolbox, all of it plainly built: case overview, graph entity</a:t>
            </a:r>
          </a:p>
          <a:p>
            <a:r>
              <a:t>search, schema inspection, entity details and neighbourhoods, pathfinding, full-text</a:t>
            </a:r>
          </a:p>
          <a:p>
            <a:r>
              <a:t>document search, timeline events, financial records, map locations, and safe</a:t>
            </a:r>
          </a:p>
          <a:p>
            <a:r>
              <a:t>read-only Cypher for grouping and aggregation. Specific, checkable, and enough to win</a:t>
            </a:r>
          </a:p>
          <a:p>
            <a:r>
              <a:t>on its own. Two behaviours worth saying out loud in a defence market: the agent ASKS</a:t>
            </a:r>
          </a:p>
          <a:p>
            <a:r>
              <a:t>FOR CLARIFICATION rather than guessing, and IT PROPOSES WHILE THE INVESTIGATOR</a:t>
            </a:r>
          </a:p>
          <a:p>
            <a:r>
              <a:t>DISPOSES — merges and case changes stay under human control. Those describe a</a:t>
            </a:r>
          </a:p>
          <a:p>
            <a:r>
              <a:t>mechanism, not an intention, which is what the courtroom question is really asking for.</a:t>
            </a:r>
          </a:p>
          <a:p/>
          <a:p>
            <a:r>
              <a:t>THE HYPOTHESIS WORKBENCH — landing before submission. Assembling a Loupe from a</a:t>
            </a:r>
          </a:p>
          <a:p>
            <a:r>
              <a:t>scenario, hunting what breaks the theory, enumerating what's missing, standing</a:t>
            </a:r>
          </a:p>
          <a:p>
            <a:r>
              <a:t>hypotheses that re-evaluate. These are the most quotable claims you have, which makes</a:t>
            </a:r>
          </a:p>
          <a:p>
            <a:r>
              <a:t>them the ones you get asked to demo. One rule: don't say it until it has demoed clean</a:t>
            </a:r>
          </a:p>
          <a:p>
            <a:r>
              <a:t>once. Anything not landed on submission day becomes the roadmap answer — the toolbox</a:t>
            </a:r>
          </a:p>
          <a:p>
            <a:r>
              <a:t>above carries the pitch without it. Blocker 5g.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 sizing is desk research, not primary — label it as such.</a:t>
            </a:r>
          </a:p>
          <a:p>
            <a:r>
              <a:t>Global forensic accounting ~$18–20B, US ~$10.5B, highly fragmented.</a:t>
            </a:r>
          </a:p>
          <a:p/>
          <a:p>
            <a:r>
              <a:t>A SECOND USE CASE surfaced in discovery and may be the better wedge:</a:t>
            </a:r>
          </a:p>
          <a:p>
            <a:r>
              <a:t>PRE-ENGAGEMENT TRIAGE. A PI-firm CEO (ex-FBI, Tampa Bay) described her sharpest</a:t>
            </a:r>
          </a:p>
          <a:p>
            <a:r>
              <a:t>pain as upstream of casework — free 15-minute consultations, large document sets</a:t>
            </a:r>
          </a:p>
          <a:p>
            <a:r>
              <a:t>from prospects, deciding whether to take the matter without burning senior</a:t>
            </a:r>
          </a:p>
          <a:p>
            <a:r>
              <a:t>hours. Also: 15 audio recordings needing a summary.</a:t>
            </a:r>
          </a:p>
          <a:p/>
          <a:p>
            <a:r>
              <a:t>Why it matters: it sits on prospect intake material, NOT privileged evidence —</a:t>
            </a:r>
          </a:p>
          <a:p>
            <a:r>
              <a:t>so it can be sold BEFORE the security gate closes. Obvious ROI denominator</a:t>
            </a:r>
          </a:p>
          <a:p>
            <a:r>
              <a:t>(senior hours replaced). Natural front door into the same firm's casework.</a:t>
            </a:r>
          </a:p>
          <a:p/>
          <a:p>
            <a:r>
              <a:t>It also reframes the buyer. She was not buying a tool for herself — she was</a:t>
            </a:r>
          </a:p>
          <a:p>
            <a:r>
              <a:t>asking whether it makes her JUNIOR investigators effective, benchmarked against</a:t>
            </a:r>
          </a:p>
          <a:p>
            <a:r>
              <a:t>the cost of a junior investigator or overseas staff. That is a</a:t>
            </a:r>
          </a:p>
          <a:p>
            <a:r>
              <a:t>labour-substitution sale, not a software-features sale.</a:t>
            </a:r>
          </a:p>
          <a:p/>
          <a:p>
            <a:r>
              <a:t>WHAT REMAINS OPEN: what does a 10–50 person practice actually pay, and through</a:t>
            </a:r>
          </a:p>
          <a:p>
            <a:r>
              <a:t>what mechanism — per-matter passed through to the client, or per-seat licence?</a:t>
            </a:r>
          </a:p>
          <a:p>
            <a:r>
              <a:t>The ex-FBI prospect declined to name a price before using the product ("I would</a:t>
            </a:r>
          </a:p>
          <a:p>
            <a:r>
              <a:t>have to use it before I could answer that appropriately"). She is aware of the</a:t>
            </a:r>
          </a:p>
          <a:p>
            <a:r>
              <a:t>~$25k/licence reference point and open to a mutual MSA at low cost, low risk.</a:t>
            </a:r>
          </a:p>
          <a:p>
            <a:r>
              <a:t>Other anchors: Valid8 ~$42k/yr, CaseWare IDEA.</a:t>
            </a:r>
          </a:p>
          <a:p/>
          <a:p>
            <a:r>
              <a:t>The pricing question is closed by running a paid pilot, not by booking more</a:t>
            </a:r>
          </a:p>
          <a:p>
            <a:r>
              <a:t>calls — which is exactly what slide 9 asks NDRC to fund.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SIREN. It is the strongest founder-market-fit signal you</a:t>
            </a:r>
          </a:p>
          <a:p>
            <a:r>
              <a:t>have. NDRC will know Siren — Irish, Enterprise Ireland-backed, same category. It</a:t>
            </a:r>
          </a:p>
          <a:p>
            <a:r>
              <a:t>converts you from "engineer who built a thing" to "category-native founder who</a:t>
            </a:r>
          </a:p>
          <a:p>
            <a:r>
              <a:t>has seen this market's buying behaviour for seven years." It pre-answers the</a:t>
            </a:r>
          </a:p>
          <a:p>
            <a:r>
              <a:t>sales-cycle and procurement questions before they're asked.</a:t>
            </a:r>
          </a:p>
          <a:p/>
          <a:p>
            <a:r>
              <a:t>"Full-time on close" appears twice on purpose. Say it out loud as well as</a:t>
            </a:r>
          </a:p>
          <a:p>
            <a:r>
              <a:t>printing it.</a:t>
            </a:r>
          </a:p>
          <a:p/>
          <a:p>
            <a:r>
              <a:t>DO NOT HIDE Alex being US-based. Address it in one line: the company is Irish,</a:t>
            </a:r>
          </a:p>
          <a:p>
            <a:r>
              <a:t>the IP is Irish-owned, engineering is in Dublin, and the market is US-first —</a:t>
            </a:r>
          </a:p>
          <a:p>
            <a:r>
              <a:t>which is why the domain founder is where the customers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BEATS, IN THIS ORDER — DO NOT INVERT THEM.</a:t>
            </a:r>
          </a:p>
          <a:p/>
          <a:p>
            <a:r>
              <a:t>FIRST: IT WORKS. Cases closed, attorneys using it, a practice winning business</a:t>
            </a:r>
          </a:p>
          <a:p>
            <a:r>
              <a:t>because of it. That is a further-along position than most of what NDRC will see</a:t>
            </a:r>
          </a:p>
          <a:p>
            <a:r>
              <a:t>this year, and it should be the first thing out of your mouth.</a:t>
            </a:r>
          </a:p>
          <a:p/>
          <a:p>
            <a:r>
              <a:t>SECOND: THE SECURITY GATE. No external customer's evidence enters until the</a:t>
            </a:r>
          </a:p>
          <a:p>
            <a:r>
              <a:t>isolation, backup and legal stages pass. Most pre-seed teams cannot demonstrate</a:t>
            </a:r>
          </a:p>
          <a:p>
            <a:r>
              <a:t>release discipline at all. Frame it as WHY the external pilot hasn't started</a:t>
            </a:r>
          </a:p>
          <a:p>
            <a:r>
              <a:t>yet — that turns a delay into evidence of seriousness.</a:t>
            </a:r>
          </a:p>
          <a:p/>
          <a:p>
            <a:r>
              <a:t>ON THE ROADMAP: mention it, don't dwell on it. It is a statement of ambition,</a:t>
            </a:r>
          </a:p>
          <a:p>
            <a:r>
              <a:t>not a list of things Loupe cannot do. If the deck spends more pixels on the</a:t>
            </a:r>
          </a:p>
          <a:p>
            <a:r>
              <a:t>roadmap than on the working product, a reader concludes the product IS the</a:t>
            </a:r>
          </a:p>
          <a:p>
            <a:r>
              <a:t>roadmap.</a:t>
            </a:r>
          </a:p>
          <a:p/>
          <a:p>
            <a:r>
              <a:t>CLAIMS SAFETY</a:t>
            </a:r>
          </a:p>
          <a:p>
            <a:r>
              <a:t>- DO NOT call the ex-FBI PI firm a signed customer, an LOI, or a pipeline</a:t>
            </a:r>
          </a:p>
          <a:p>
            <a:r>
              <a:t>  value. Nothing is signed. True and sufficient: an agreed next case, an</a:t>
            </a:r>
          </a:p>
          <a:p>
            <a:r>
              <a:t>  at-cost trial, an MSA to be exchanged. This is the only hard prohibition.</a:t>
            </a:r>
          </a:p>
          <a:p>
            <a:r>
              <a:t>- "WCAG 2.1 AA" and "571k-node corpus" — fine if evidenced. Have the audit</a:t>
            </a:r>
          </a:p>
          <a:p>
            <a:r>
              <a:t>  result and load-test output to hand.</a:t>
            </a:r>
          </a:p>
          <a:p>
            <a:r>
              <a:t>- Scale figures: say whether each came from a real case or a test corpus.</a:t>
            </a:r>
          </a:p>
          <a:p>
            <a:r>
              <a:t>- Prefer "verification workflow" over "human-verified facts".</a:t>
            </a:r>
          </a:p>
          <a:p>
            <a:r>
              <a:t>- CI: .github/workflows absent from the branch inspected. If CI runs elsewhere,</a:t>
            </a:r>
          </a:p>
          <a:p>
            <a:r>
              <a:t>  ignore. Otherwise don't claim hard-gating CI — and consider standing it up.</a:t>
            </a:r>
          </a:p>
          <a:p/>
          <a:p>
            <a:r>
              <a:t>FRAMING RULE FOR THE WHOLE DECK: Loupe is one product, and it works. Never</a:t>
            </a:r>
          </a:p>
          <a:p>
            <a:r>
              <a:t>write a sentence that invites a reader to wonder whether the thing that ran</a:t>
            </a:r>
          </a:p>
          <a:p>
            <a:r>
              <a:t>federal cases is the same thing you are pitching.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put an hours figure on this slide, and do not pre-empt an</a:t>
            </a:r>
          </a:p>
          <a:p>
            <a:r>
              <a:t>arithmetic problem you don't have. This is a COMMERCIALISATION raise, not a</a:t>
            </a:r>
          </a:p>
          <a:p>
            <a:r>
              <a:t>build raise — the easier of the two to underwrite, and it happens to be true.</a:t>
            </a:r>
          </a:p>
          <a:p/>
          <a:p>
            <a:r>
              <a:t>If the roadmap comes up: it is the path from serving one practice to serving</a:t>
            </a:r>
          </a:p>
          <a:p>
            <a:r>
              <a:t>many, deliberately ambitious because the category rewards depth. Present it as</a:t>
            </a:r>
          </a:p>
          <a:p>
            <a:r>
              <a:t>where the company goes, never as what the product still lacks. If asked what</a:t>
            </a:r>
          </a:p>
          <a:p>
            <a:r>
              <a:t>€100k funds against a 265-ticket board: the gate and the pilot, and the rest is</a:t>
            </a:r>
          </a:p>
          <a:p>
            <a:r>
              <a:t>sequenced behind revenue from customers you will have by then.</a:t>
            </a:r>
          </a:p>
          <a:p/>
          <a:p>
            <a:r>
              <a:t>THE GROSS-MARGIN QUESTION — be ready for it.</a:t>
            </a:r>
          </a:p>
          <a:p>
            <a:r>
              <a:t>Loupe has a real variable cost per case: AI processing, roughly $70 to ingest a</a:t>
            </a:r>
          </a:p>
          <a:p>
            <a:r>
              <a:t>1,600-page document. A buyer has already asked whether the licence covers AI</a:t>
            </a:r>
          </a:p>
          <a:p>
            <a:r>
              <a:t>processing or tokens are billed separately. It is not yet answered. Do not hide</a:t>
            </a:r>
          </a:p>
          <a:p>
            <a:r>
              <a:t>it. Credible position:</a:t>
            </a:r>
          </a:p>
          <a:p/>
          <a:p>
            <a:r>
              <a:t>  Every case carries a measurable AI processing cost. We meter it today.</a:t>
            </a:r>
          </a:p>
          <a:p>
            <a:r>
              <a:t>  Whether it sits inside the licence or is passed through is a pricing decision</a:t>
            </a:r>
          </a:p>
          <a:p>
            <a:r>
              <a:t>  we are taking from pilot data rather than guessing — and it is one of the</a:t>
            </a:r>
          </a:p>
          <a:p>
            <a:r>
              <a:t>  questions this round exists to answer.</a:t>
            </a:r>
          </a:p>
          <a:p/>
          <a:p>
            <a:r>
              <a:t>Two things make this a strength: (1) you MEASURE it, which most applicants</a:t>
            </a:r>
          </a:p>
          <a:p>
            <a:r>
              <a:t>cannot; (2) the cost is direct evidence of the product claim — the price is</a:t>
            </a:r>
          </a:p>
          <a:p>
            <a:r>
              <a:t>high because the system reads everything, which is precisely what a $20 chat</a:t>
            </a:r>
          </a:p>
          <a:p>
            <a:r>
              <a:t>subscription does not do.</a:t>
            </a:r>
          </a:p>
          <a:p/>
          <a:p>
            <a:r>
              <a:t>Have a rough per-case unit economic ready: cost to process a representative</a:t>
            </a:r>
          </a:p>
          <a:p>
            <a:r>
              <a:t>matter versus the senior/junior hours it displaces. You don't need a final</a:t>
            </a:r>
          </a:p>
          <a:p>
            <a:r>
              <a:t>price. You need to show you know the shape of the P&amp;L.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40280"/>
            <a:ext cx="106372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0" b="1" i="0">
                <a:solidFill>
                  <a:srgbClr val="F4F6F8"/>
                </a:solidFill>
                <a:latin typeface="Helvetica Neue"/>
              </a:rPr>
              <a:t>Loupe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2700" b="0" i="0">
                <a:solidFill>
                  <a:srgbClr val="E8B339"/>
                </a:solidFill>
                <a:latin typeface="Helvetica Neue"/>
              </a:rPr>
              <a:t>Find the signal in everything.</a:t>
            </a:r>
          </a:p>
          <a:p>
            <a:pPr algn="l">
              <a:lnSpc>
                <a:spcPct val="128000"/>
              </a:lnSpc>
              <a:spcBef>
                <a:spcPts val="2200"/>
              </a:spcBef>
              <a:spcAft>
                <a:spcPts val="0"/>
              </a:spcAft>
            </a:pPr>
            <a:r>
              <a:rPr sz="1900" b="0" i="0">
                <a:solidFill>
                  <a:srgbClr val="9AA7B4"/>
                </a:solidFill>
                <a:latin typeface="Helvetica Neue"/>
              </a:rPr>
              <a:t>An investigation platform for fraud and criminal casework.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900" b="0" i="0">
                <a:solidFill>
                  <a:srgbClr val="9AA7B4"/>
                </a:solidFill>
                <a:latin typeface="Helvetica Neue"/>
              </a:rPr>
              <a:t>Dublin, Ireland.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5715000"/>
            <a:ext cx="1463040" cy="31750"/>
          </a:xfrm>
          <a:prstGeom prst="rect">
            <a:avLst/>
          </a:prstGeom>
          <a:solidFill>
            <a:srgbClr val="E8B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Helvetica Neue"/>
              </a:defRPr>
            </a:pPr>
            <a:r>
              <a:rPr sz="1100" b="1" i="0">
                <a:solidFill>
                  <a:srgbClr val="E8B339"/>
                </a:solidFill>
                <a:latin typeface="Helvetica Neue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4F6F8"/>
                </a:solidFill>
                <a:latin typeface="Helvetica Neue"/>
              </a:rPr>
              <a:t>Modern casework is a data problem
wearing a legal costume.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84831"/>
            <a:ext cx="1005840" cy="31750"/>
          </a:xfrm>
          <a:prstGeom prst="rect">
            <a:avLst/>
          </a:prstGeom>
          <a:solidFill>
            <a:srgbClr val="E8B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52578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9AA7B4"/>
                </a:solidFill>
                <a:latin typeface="Helvetica Neue"/>
              </a:rPr>
              <a:t>A single serious-fraud or criminal case now arrives as: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8B339"/>
                </a:solidFill>
                <a:latin typeface="Helvetica Neue"/>
              </a:rPr>
              <a:t>—   </a:t>
            </a:r>
            <a:r>
              <a:rPr sz="1600" b="0" i="0">
                <a:solidFill>
                  <a:srgbClr val="F4F6F8"/>
                </a:solidFill>
                <a:latin typeface="Helvetica Neue"/>
              </a:rPr>
              <a:t>thousands of documents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8B339"/>
                </a:solidFill>
                <a:latin typeface="Helvetica Neue"/>
              </a:rPr>
              <a:t>—   </a:t>
            </a:r>
            <a:r>
              <a:rPr sz="1600" b="0" i="0">
                <a:solidFill>
                  <a:srgbClr val="F4F6F8"/>
                </a:solidFill>
                <a:latin typeface="Helvetica Neue"/>
              </a:rPr>
              <a:t>multi-gigabyte phone extractions, hundreds of thousands of events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8B339"/>
                </a:solidFill>
                <a:latin typeface="Helvetica Neue"/>
              </a:rPr>
              <a:t>—   </a:t>
            </a:r>
            <a:r>
              <a:rPr sz="1600" b="0" i="0">
                <a:solidFill>
                  <a:srgbClr val="F4F6F8"/>
                </a:solidFill>
                <a:latin typeface="Helvetica Neue"/>
              </a:rPr>
              <a:t>bank records spanning tens of thousands of transactions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8B339"/>
                </a:solidFill>
                <a:latin typeface="Helvetica Neue"/>
              </a:rPr>
              <a:t>—   </a:t>
            </a:r>
            <a:r>
              <a:rPr sz="1600" b="0" i="0">
                <a:solidFill>
                  <a:srgbClr val="F4F6F8"/>
                </a:solidFill>
                <a:latin typeface="Helvetica Neue"/>
              </a:rPr>
              <a:t>hours of recorded audio</a:t>
            </a:r>
          </a:p>
          <a:p>
            <a:pPr algn="l">
              <a:lnSpc>
                <a:spcPct val="128000"/>
              </a:lnSpc>
              <a:spcBef>
                <a:spcPts val="1800"/>
              </a:spcBef>
              <a:spcAft>
                <a:spcPts val="0"/>
              </a:spcAft>
            </a:pPr>
            <a:r>
              <a:rPr sz="1600" b="0" i="0">
                <a:solidFill>
                  <a:srgbClr val="F4F6F8"/>
                </a:solidFill>
                <a:latin typeface="Helvetica Neue"/>
              </a:rPr>
              <a:t>The tools investigators have are </a:t>
            </a:r>
            <a:r>
              <a:rPr sz="1600" b="1" i="0">
                <a:solidFill>
                  <a:srgbClr val="F4F6F8"/>
                </a:solidFill>
                <a:latin typeface="Helvetica Neue"/>
              </a:rPr>
              <a:t>viewers.</a:t>
            </a:r>
            <a:r>
              <a:rPr sz="1600" b="0" i="0">
                <a:solidFill>
                  <a:srgbClr val="F4F6F8"/>
                </a:solidFill>
                <a:latin typeface="Helvetica Neue"/>
              </a:rPr>
              <a:t> One phone at a time. One PDF at a time. One spreadsheet at a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377440"/>
            <a:ext cx="48463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AA7B4"/>
                </a:solidFill>
                <a:latin typeface="Helvetica Neue"/>
              </a:rPr>
              <a:t>The connections — the same person in a witness statement, a WhatsApp thread and a beneficiary field; the meeting two streets from the cash withdrawal — live in investigators' heads and on whiteboards.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700" b="1" i="0">
                <a:solidFill>
                  <a:srgbClr val="E8B339"/>
                </a:solidFill>
                <a:latin typeface="Helvetica Neue"/>
              </a:rPr>
              <a:t>They don't scale, they don't survive staff turnover, and they can't be handed to a court.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F4F6F8"/>
                </a:solidFill>
                <a:latin typeface="Helvetica Neue"/>
              </a:rPr>
              <a:t>We didn't start with a product idea. We started with a case we couldn't work.</a:t>
            </a:r>
          </a:p>
          <a:p>
            <a:pPr algn="l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 i="1">
                <a:solidFill>
                  <a:srgbClr val="9AA7B4"/>
                </a:solidFill>
                <a:latin typeface="Helvetica Neue"/>
              </a:rPr>
              <a:t>We tried to buy this. Building it was the second choice, not the first.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Helvetica Neue"/>
              </a:defRPr>
            </a:pPr>
            <a:r>
              <a:rPr sz="1100" b="1" i="0">
                <a:solidFill>
                  <a:srgbClr val="E8B339"/>
                </a:solidFill>
                <a:latin typeface="Helvetica Neue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4F6F8"/>
                </a:solidFill>
                <a:latin typeface="Helvetica Neue"/>
              </a:rPr>
              <a:t>Three curves crossed.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91640"/>
            <a:ext cx="1005840" cy="31750"/>
          </a:xfrm>
          <a:prstGeom prst="rect">
            <a:avLst/>
          </a:prstGeom>
          <a:solidFill>
            <a:srgbClr val="E8B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8B339"/>
                </a:solidFill>
                <a:latin typeface="Helvetica Neue"/>
              </a:rPr>
              <a:t>01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4F6F8"/>
                </a:solidFill>
                <a:latin typeface="Helvetica Neue"/>
              </a:rPr>
              <a:t>Digital evidence volume exploded.</a:t>
            </a:r>
            <a:r>
              <a:rPr sz="1800" b="0" i="0">
                <a:solidFill>
                  <a:srgbClr val="F4F6F8"/>
                </a:solidFill>
                <a:latin typeface="Helvetica Neue"/>
              </a:rPr>
              <a:t> A phone extraction now appears in nearly every case.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8B339"/>
                </a:solidFill>
                <a:latin typeface="Helvetica Neue"/>
              </a:rPr>
              <a:t>02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4F6F8"/>
                </a:solidFill>
                <a:latin typeface="Helvetica Neue"/>
              </a:rPr>
              <a:t>LLMs became good enough</a:t>
            </a:r>
            <a:r>
              <a:rPr sz="1800" b="0" i="0">
                <a:solidFill>
                  <a:srgbClr val="F4F6F8"/>
                </a:solidFill>
                <a:latin typeface="Helvetica Neue"/>
              </a:rPr>
              <a:t> to read evidence at scale.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8B339"/>
                </a:solidFill>
                <a:latin typeface="Helvetica Neue"/>
              </a:rPr>
              <a:t>03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4F6F8"/>
                </a:solidFill>
                <a:latin typeface="Helvetica Neue"/>
              </a:rPr>
              <a:t>Bare LLMs remain unusable in evidence work</a:t>
            </a:r>
            <a:r>
              <a:rPr sz="1800" b="0" i="0">
                <a:solidFill>
                  <a:srgbClr val="F4F6F8"/>
                </a:solidFill>
                <a:latin typeface="Helvetica Neue"/>
              </a:rPr>
              <a:t> — no provenance, no audit, no confidentiality.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6600" y="2148840"/>
            <a:ext cx="43434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9AA7B4"/>
                </a:solidFill>
                <a:latin typeface="Helvetica Neue"/>
              </a:rPr>
              <a:t>The gap between (2) and (3) is exactly where Loupe sits: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2300" b="1" i="0">
                <a:solidFill>
                  <a:srgbClr val="E8B339"/>
                </a:solidFill>
                <a:latin typeface="Helvetica Neue"/>
              </a:rPr>
              <a:t>the trust layer that makes AI admissible in investigative work.</a:t>
            </a:r>
          </a:p>
          <a:p>
            <a:pPr algn="l">
              <a:lnSpc>
                <a:spcPct val="128000"/>
              </a:lnSpc>
              <a:spcBef>
                <a:spcPts val="3000"/>
              </a:spcBef>
              <a:spcAft>
                <a:spcPts val="0"/>
              </a:spcAft>
            </a:pPr>
            <a:r>
              <a:rPr sz="1600" b="0" i="0">
                <a:solidFill>
                  <a:srgbClr val="F4F6F8"/>
                </a:solidFill>
                <a:latin typeface="Helvetica Neue"/>
              </a:rPr>
              <a:t>Only ~25% of anti-fraud programmes use AI/ML today — and only </a:t>
            </a:r>
            <a:r>
              <a:rPr sz="1600" b="1" i="0">
                <a:solidFill>
                  <a:srgbClr val="F4F6F8"/>
                </a:solidFill>
                <a:latin typeface="Helvetica Neue"/>
              </a:rPr>
              <a:t>~6% of fraud examiners are confident explaining how their AI reaches its conclusions.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1">
                <a:solidFill>
                  <a:srgbClr val="9AA7B4"/>
                </a:solidFill>
                <a:latin typeface="Helvetica Neue"/>
              </a:rPr>
              <a:t>ACFE 2026 anti-fraud technology benchmarking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Helvetica Neue"/>
              </a:defRPr>
            </a:pPr>
            <a:r>
              <a:rPr sz="1100" b="1" i="0">
                <a:solidFill>
                  <a:srgbClr val="E8B339"/>
                </a:solidFill>
                <a:latin typeface="Helvetica Neue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4F6F8"/>
                </a:solidFill>
                <a:latin typeface="Helvetica Neue"/>
              </a:rPr>
              <a:t>Evidence in. One connected model 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91640"/>
            <a:ext cx="1005840" cy="31750"/>
          </a:xfrm>
          <a:prstGeom prst="rect">
            <a:avLst/>
          </a:prstGeom>
          <a:solidFill>
            <a:srgbClr val="E8B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148840"/>
            <a:ext cx="4937760" cy="2606040"/>
          </a:xfrm>
          <a:prstGeom prst="rect">
            <a:avLst/>
          </a:prstGeom>
          <a:solidFill>
            <a:srgbClr val="18212B"/>
          </a:solidFill>
          <a:ln w="12700">
            <a:solidFill>
              <a:srgbClr val="6E87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339"/>
                </a:solidFill>
                <a:latin typeface="Helvetica Neue"/>
              </a:rPr>
              <a:t>SCREENSHOT — A LOUPE</a:t>
            </a:r>
          </a:p>
          <a:p>
            <a:pPr algn="ctr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9AA7B4"/>
                </a:solidFill>
                <a:latin typeface="Helvetica Neue"/>
              </a:rPr>
              <a:t>Five highlighted passages from three documents,
bound into one evidenced narrative timeline.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63640" y="2148840"/>
            <a:ext cx="4937760" cy="2606040"/>
          </a:xfrm>
          <a:prstGeom prst="rect">
            <a:avLst/>
          </a:prstGeom>
          <a:solidFill>
            <a:srgbClr val="18212B"/>
          </a:solidFill>
          <a:ln w="12700">
            <a:solidFill>
              <a:srgbClr val="6E87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339"/>
                </a:solidFill>
                <a:latin typeface="Helvetica Neue"/>
              </a:rPr>
              <a:t>SCREENSHOT — CITED AI ANSWER, MID-CLICK</a:t>
            </a:r>
          </a:p>
          <a:p>
            <a:pPr algn="ctr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9AA7B4"/>
                </a:solidFill>
                <a:latin typeface="Helvetica Neue"/>
              </a:rPr>
              <a:t>Opening the source document
at the cited page.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029200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4F6F8"/>
                </a:solidFill>
                <a:latin typeface="Helvetica Neue"/>
              </a:rPr>
              <a:t>Every fact carries the verbatim quote, source location and confidence it rests on.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 i="0">
                <a:solidFill>
                  <a:srgbClr val="9AA7B4"/>
                </a:solidFill>
                <a:latin typeface="Helvetica Neue"/>
              </a:rPr>
              <a:t>Investigators highlight what matters and bind it into </a:t>
            </a:r>
            <a:r>
              <a:rPr sz="1500" b="1" i="0">
                <a:solidFill>
                  <a:srgbClr val="9AA7B4"/>
                </a:solidFill>
                <a:latin typeface="Helvetica Neue"/>
              </a:rPr>
              <a:t>Loupes</a:t>
            </a:r>
            <a:r>
              <a:rPr sz="1500" b="0" i="0">
                <a:solidFill>
                  <a:srgbClr val="9AA7B4"/>
                </a:solidFill>
                <a:latin typeface="Helvetica Neue"/>
              </a:rPr>
              <a:t> — evidenced collections that carry the narrative, not just the extraction. The product is named after them.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700" b="1" i="0">
                <a:solidFill>
                  <a:srgbClr val="E8B339"/>
                </a:solidFill>
                <a:latin typeface="Helvetica Neue"/>
              </a:rPr>
              <a:t>Ingest  →  Ground  →  Connect  →  Explore  →  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Helvetica Neue"/>
              </a:defRPr>
            </a:pPr>
            <a:r>
              <a:rPr sz="1100" b="1" i="0">
                <a:solidFill>
                  <a:srgbClr val="E8B339"/>
                </a:solidFill>
                <a:latin typeface="Helvetica Neue"/>
              </a:rPr>
              <a:t>DIFFERENTIATION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4F6F8"/>
                </a:solidFill>
                <a:latin typeface="Helvetica Neue"/>
              </a:rPr>
              <a:t>Why this isn't ChatGPT with files.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691640"/>
          <a:ext cx="10634472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931920"/>
                <a:gridCol w="4325112"/>
              </a:tblGrid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A7B4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109728" marT="45720" marB="45720">
                    <a:solidFill>
                      <a:srgbClr val="0E14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A7B4"/>
                          </a:solidFill>
                          <a:latin typeface="Helvetica Neue"/>
                        </a:rPr>
                        <a:t>A straight LLM</a:t>
                      </a:r>
                    </a:p>
                  </a:txBody>
                  <a:tcPr marL="109728" marT="45720" marB="45720">
                    <a:solidFill>
                      <a:srgbClr val="0E14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E8B339"/>
                          </a:solidFill>
                          <a:latin typeface="Helvetica Neue"/>
                        </a:rPr>
                        <a:t>Loupe</a:t>
                      </a:r>
                    </a:p>
                  </a:txBody>
                  <a:tcPr marL="109728" marT="45720" marB="45720">
                    <a:solidFill>
                      <a:srgbClr val="0E141B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4F6F8"/>
                          </a:solidFill>
                          <a:latin typeface="Helvetica Neue"/>
                        </a:rPr>
                        <a:t>Where the case lives</a:t>
                      </a:r>
                    </a:p>
                  </a:txBody>
                  <a:tcPr marL="109728" marT="41148" marB="41148">
                    <a:solidFill>
                      <a:srgbClr val="1821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A7B4"/>
                          </a:solidFill>
                          <a:latin typeface="Helvetica Neue"/>
                        </a:rPr>
                        <a:t>A context window, forgotten after</a:t>
                      </a:r>
                    </a:p>
                  </a:txBody>
                  <a:tcPr marL="109728" marT="41148" marB="41148">
                    <a:solidFill>
                      <a:srgbClr val="1821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4F6F8"/>
                          </a:solidFill>
                          <a:latin typeface="Helvetica Neue"/>
                        </a:rPr>
                        <a:t>A persistent case knowledge graph — outlives every conversation</a:t>
                      </a:r>
                    </a:p>
                  </a:txBody>
                  <a:tcPr marL="109728" marT="41148" marB="41148">
                    <a:solidFill>
                      <a:srgbClr val="18212B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4F6F8"/>
                          </a:solidFill>
                          <a:latin typeface="Helvetica Neue"/>
                        </a:rPr>
                        <a:t>Scale</a:t>
                      </a:r>
                    </a:p>
                  </a:txBody>
                  <a:tcPr marL="109728" marT="41148" marB="41148">
                    <a:solidFill>
                      <a:srgbClr val="0E14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A7B4"/>
                          </a:solidFill>
                          <a:latin typeface="Helvetica Neue"/>
                        </a:rPr>
                        <a:t>Hundreds of pages at best</a:t>
                      </a:r>
                    </a:p>
                  </a:txBody>
                  <a:tcPr marL="109728" marT="41148" marB="41148">
                    <a:solidFill>
                      <a:srgbClr val="0E14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4F6F8"/>
                          </a:solidFill>
                          <a:latin typeface="Helvetica Neue"/>
                        </a:rPr>
                        <a:t>Entire corpora: thousands of documents, multi-gigabyte phone reports</a:t>
                      </a:r>
                    </a:p>
                  </a:txBody>
                  <a:tcPr marL="109728" marT="41148" marB="41148">
                    <a:solidFill>
                      <a:srgbClr val="0E141B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4F6F8"/>
                          </a:solidFill>
                          <a:latin typeface="Helvetica Neue"/>
                        </a:rPr>
                        <a:t>What the AI does</a:t>
                      </a:r>
                    </a:p>
                  </a:txBody>
                  <a:tcPr marL="109728" marT="41148" marB="41148">
                    <a:solidFill>
                      <a:srgbClr val="1821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A7B4"/>
                          </a:solidFill>
                          <a:latin typeface="Helvetica Neue"/>
                        </a:rPr>
                        <a:t>Answers in prose, one conversation at a time</a:t>
                      </a:r>
                    </a:p>
                  </a:txBody>
                  <a:tcPr marL="109728" marT="41148" marB="41148">
                    <a:solidFill>
                      <a:srgbClr val="1821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4F6F8"/>
                          </a:solidFill>
                          <a:latin typeface="Helvetica Neue"/>
                        </a:rPr>
                        <a:t>Cites every claim to the page — and runs tools: builds Loupes, groupings and outputs from plain instruction</a:t>
                      </a:r>
                    </a:p>
                  </a:txBody>
                  <a:tcPr marL="109728" marT="41148" marB="41148">
                    <a:solidFill>
                      <a:srgbClr val="18212B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4F6F8"/>
                          </a:solidFill>
                          <a:latin typeface="Helvetica Neue"/>
                        </a:rPr>
                        <a:t>Confidentiality</a:t>
                      </a:r>
                    </a:p>
                  </a:txBody>
                  <a:tcPr marL="109728" marT="41148" marB="41148">
                    <a:solidFill>
                      <a:srgbClr val="0E14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A7B4"/>
                          </a:solidFill>
                          <a:latin typeface="Helvetica Neue"/>
                        </a:rPr>
                        <a:t>Multi-tenant cloud</a:t>
                      </a:r>
                    </a:p>
                  </a:txBody>
                  <a:tcPr marL="109728" marT="41148" marB="41148">
                    <a:solidFill>
                      <a:srgbClr val="0E14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4F6F8"/>
                          </a:solidFill>
                          <a:latin typeface="Helvetica Neue"/>
                        </a:rPr>
                        <a:t>Single-tenant: evidence never leaves the customer's instance</a:t>
                      </a:r>
                    </a:p>
                  </a:txBody>
                  <a:tcPr marL="109728" marT="41148" marB="41148">
                    <a:solidFill>
                      <a:srgbClr val="0E141B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4F6F8"/>
                          </a:solidFill>
                          <a:latin typeface="Helvetica Neue"/>
                        </a:rPr>
                        <a:t>Human judgment</a:t>
                      </a:r>
                    </a:p>
                  </a:txBody>
                  <a:tcPr marL="109728" marT="41148" marB="41148">
                    <a:solidFill>
                      <a:srgbClr val="1821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A7B4"/>
                          </a:solidFill>
                          <a:latin typeface="Helvetica Neue"/>
                        </a:rPr>
                        <a:t>Lives outside the tool — lost between sessions</a:t>
                      </a:r>
                    </a:p>
                  </a:txBody>
                  <a:tcPr marL="109728" marT="41148" marB="41148">
                    <a:solidFill>
                      <a:srgbClr val="1821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4F6F8"/>
                          </a:solidFill>
                          <a:latin typeface="Helvetica Neue"/>
                        </a:rPr>
                        <a:t>Highlights, significance and Loupes — bonded collections of evidence — are durable objects in the case model</a:t>
                      </a:r>
                    </a:p>
                  </a:txBody>
                  <a:tcPr marL="109728" marT="41148" marB="41148">
                    <a:solidFill>
                      <a:srgbClr val="18212B"/>
                    </a:solidFill>
                  </a:tcPr>
                </a:tc>
              </a:tr>
              <a:tr h="52905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4F6F8"/>
                          </a:solidFill>
                          <a:latin typeface="Helvetica Neue"/>
                        </a:rPr>
                        <a:t>Model dependence</a:t>
                      </a:r>
                    </a:p>
                  </a:txBody>
                  <a:tcPr marL="109728" marT="41148" marB="41148">
                    <a:solidFill>
                      <a:srgbClr val="0E14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A7B4"/>
                          </a:solidFill>
                          <a:latin typeface="Helvetica Neue"/>
                        </a:rPr>
                        <a:t>The model is the product</a:t>
                      </a:r>
                    </a:p>
                  </a:txBody>
                  <a:tcPr marL="109728" marT="41148" marB="41148">
                    <a:solidFill>
                      <a:srgbClr val="0E14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4F6F8"/>
                          </a:solidFill>
                          <a:latin typeface="Helvetica Neue"/>
                        </a:rPr>
                        <a:t>Models are interchangeable components. The moat is the evidence layer.</a:t>
                      </a:r>
                    </a:p>
                  </a:txBody>
                  <a:tcPr marL="109728" marT="41148" marB="41148">
                    <a:solidFill>
                      <a:srgbClr val="0E141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6235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4F6F8"/>
                </a:solidFill>
                <a:latin typeface="Helvetica Neue"/>
              </a:rPr>
              <a:t>A straight LLM gives you a well-written opinion about the fraction of the evidence that fits in its context window. Loupe gives you a complete, permanent, cross-referenced model of all of it — where </a:t>
            </a:r>
            <a:r>
              <a:rPr sz="1600" b="1" i="0">
                <a:solidFill>
                  <a:srgbClr val="F4F6F8"/>
                </a:solidFill>
                <a:latin typeface="Helvetica Neue"/>
              </a:rPr>
              <a:t>every claim carries its receipt.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Helvetica Neue"/>
              </a:defRPr>
            </a:pPr>
            <a:r>
              <a:rPr sz="1100" b="1" i="0">
                <a:solidFill>
                  <a:srgbClr val="E8B339"/>
                </a:solidFill>
                <a:latin typeface="Helvetica Neue"/>
              </a:rPr>
              <a:t>MARKET AND LEAD CUSTOMER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4F6F8"/>
                </a:solidFill>
                <a:latin typeface="Helvetica Neue"/>
              </a:rPr>
              <a:t>Every feature was requested by a working
investigator on a live case.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8B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48640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4F6F8"/>
                </a:solidFill>
                <a:latin typeface="Helvetica Neue"/>
              </a:rPr>
              <a:t>Our CPO is our design partner. Development has been customer-led from the first commit — not a roadmap we invented and then validated, but a backlog generated by real federal casework. Cases have been worked to completion in the platform, and </a:t>
            </a:r>
            <a:r>
              <a:rPr sz="1300" b="1" i="0">
                <a:solidFill>
                  <a:srgbClr val="F4F6F8"/>
                </a:solidFill>
                <a:latin typeface="Helvetica Neue"/>
              </a:rPr>
              <a:t>three attorneys on those cases have been given access to it.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E8B339"/>
                </a:solidFill>
                <a:latin typeface="Helvetica Neue"/>
              </a:rPr>
              <a:t>Why this tier is empty — and stays empty.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9AA7B4"/>
                </a:solidFill>
                <a:latin typeface="Helvetica Neue"/>
              </a:rPr>
              <a:t>Enterprise investigative-intelligence platforms are sold with configuration and support attached — the right model for agencies and large institutions, who arrive with budget, procurement and implementation resource.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F4F6F8"/>
                </a:solidFill>
                <a:latin typeface="Helvetica Neue"/>
              </a:rPr>
              <a:t>The tier below has the same casework complexity and the same evidence volumes — and none of that budget. </a:t>
            </a:r>
            <a:r>
              <a:rPr sz="1200" b="1" i="0">
                <a:solidFill>
                  <a:srgbClr val="F4F6F8"/>
                </a:solidFill>
                <a:latin typeface="Helvetica Neue"/>
              </a:rPr>
              <a:t>Loupe is built for it directly: usable out of the box, by a practice with no implementation resource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2148840"/>
            <a:ext cx="466344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339"/>
                </a:solidFill>
                <a:latin typeface="Helvetica Neue"/>
              </a:rPr>
              <a:t>Beachhead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F4F6F8"/>
                </a:solidFill>
                <a:latin typeface="Helvetica Neue"/>
              </a:rPr>
              <a:t>Boutique forensic and criminal-defence practices — 10–50 people, Big-Four-class casework without Big-Four tooling budgets.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8B339"/>
                </a:solidFill>
                <a:latin typeface="Helvetica Neue"/>
              </a:rPr>
              <a:t>Expansion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A7B4"/>
                </a:solidFill>
                <a:latin typeface="Helvetica Neue"/>
              </a:rPr>
              <a:t>Financial-crime &amp; fraud units · law enforcement &amp; prosecutors · law firms &amp; disputes teams · corporate investigations &amp; compliance.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8B339"/>
                </a:solidFill>
                <a:latin typeface="Helvetica Neue"/>
              </a:rPr>
              <a:t>Reachable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A7B4"/>
                </a:solidFill>
                <a:latin typeface="Helvetica Neue"/>
              </a:rPr>
              <a:t>ACFE has ~95k members and ~60k CFEs worldwide, with chapters, conferences and directories — including an Ireland chapter since 2016.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8B339"/>
                </a:solidFill>
                <a:latin typeface="Helvetica Neue"/>
              </a:rPr>
              <a:t>Adjacent validation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A7B4"/>
                </a:solidFill>
                <a:latin typeface="Helvetica Neue"/>
              </a:rPr>
              <a:t>Harvey at ~$190M ARR and an $11B valuation proves legal-AI spend is real — and stays BigLaw-focused, leaving the boutique tier open.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17220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8B339"/>
                </a:solidFill>
                <a:latin typeface="Helvetica Neue"/>
              </a:rPr>
              <a:t>We evaluated the alternatives on a live case before we built anything. That is why we know the gap is real.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Helvetica Neue"/>
              </a:defRPr>
            </a:pPr>
            <a:r>
              <a:rPr sz="1100" b="1" i="0">
                <a:solidFill>
                  <a:srgbClr val="E8B339"/>
                </a:solidFill>
                <a:latin typeface="Helvetica Neue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4F6F8"/>
                </a:solidFill>
                <a:latin typeface="Helvetica Neue"/>
              </a:rPr>
              <a:t>We didn't research this market.
We worked in it — from both sides.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8B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32918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4F6F8"/>
                </a:solidFill>
                <a:latin typeface="Helvetica Neue"/>
              </a:rPr>
              <a:t>Neil Byrne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8B339"/>
                </a:solidFill>
                <a:latin typeface="Helvetica Neue"/>
              </a:rPr>
              <a:t>CEO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A7B4"/>
                </a:solidFill>
                <a:latin typeface="Helvetica Neue"/>
              </a:rPr>
              <a:t>Seven years at Siren, the Irish investigative-intelligence platform — the same category, selling to law enforcement, intelligence and financial-crime teams. Built bespoke solutions for every Siren customer I worked with; spoke with hundreds of analysts across conference talks and deployments. 10+ years in data engineering, AI systems and full-stack development.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E8B339"/>
                </a:solidFill>
                <a:latin typeface="Helvetica Neue"/>
              </a:rPr>
              <a:t>Full-time on close.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286000"/>
            <a:ext cx="32918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4F6F8"/>
                </a:solidFill>
                <a:latin typeface="Helvetica Neue"/>
              </a:rPr>
              <a:t>Conor Bowles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8B339"/>
                </a:solidFill>
                <a:latin typeface="Helvetica Neue"/>
              </a:rPr>
              <a:t>CTO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A7B4"/>
                </a:solidFill>
                <a:latin typeface="Helvetica Neue"/>
              </a:rPr>
              <a:t>Data infrastructure, security and scalable systems. Core engineering, database architecture, deployment operations.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E8B339"/>
                </a:solidFill>
                <a:latin typeface="Helvetica Neue"/>
              </a:rPr>
              <a:t>Full-time on close.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2286000"/>
            <a:ext cx="32918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4F6F8"/>
                </a:solidFill>
                <a:latin typeface="Helvetica Neue"/>
              </a:rPr>
              <a:t>Alexandra Solórzano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8B339"/>
                </a:solidFill>
                <a:latin typeface="Helvetica Neue"/>
              </a:rPr>
              <a:t>CPO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A7B4"/>
                </a:solidFill>
                <a:latin typeface="Helvetica Neue"/>
              </a:rPr>
              <a:t>10+ years as a licensed private investigator on federal criminal defence and financial fraud casework. US-based.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E8B339"/>
                </a:solidFill>
                <a:latin typeface="Helvetica Neue"/>
              </a:rPr>
              <a:t>The domain authority — and the customer the product was built for.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94360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4F6F8"/>
                </a:solidFill>
                <a:latin typeface="Helvetica Neue"/>
              </a:rPr>
              <a:t>Seven years building investigative intelligence software for enterprise buyers, and a decade running federal casework as the kind of investigator who has to live with the result. </a:t>
            </a:r>
            <a:r>
              <a:rPr sz="1500" b="1" i="0">
                <a:solidFill>
                  <a:srgbClr val="F4F6F8"/>
                </a:solidFill>
                <a:latin typeface="Helvetica Neue"/>
              </a:rPr>
              <a:t>Our CPO has run federal cases to completion inside this platform.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Helvetica Neue"/>
              </a:defRPr>
            </a:pPr>
            <a:r>
              <a:rPr sz="1100" b="1" i="0">
                <a:solidFill>
                  <a:srgbClr val="E8B339"/>
                </a:solidFill>
                <a:latin typeface="Helvetica Neue"/>
              </a:rPr>
              <a:t>STATUS AND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4F6F8"/>
                </a:solidFill>
                <a:latin typeface="Helvetica Neue"/>
              </a:rPr>
              <a:t>Loupe is in production use on real federal casework.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37360"/>
            <a:ext cx="1005840" cy="31750"/>
          </a:xfrm>
          <a:prstGeom prst="rect">
            <a:avLst/>
          </a:prstGeom>
          <a:solidFill>
            <a:srgbClr val="E8B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56235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4F6F8"/>
                </a:solidFill>
                <a:latin typeface="Helvetica Neue"/>
              </a:rPr>
              <a:t>Built inside </a:t>
            </a:r>
            <a:r>
              <a:rPr sz="1300" b="1" i="0">
                <a:solidFill>
                  <a:srgbClr val="F4F6F8"/>
                </a:solidFill>
                <a:latin typeface="Helvetica Neue"/>
              </a:rPr>
              <a:t>Owl Consultancy</a:t>
            </a:r>
            <a:r>
              <a:rPr sz="1300" b="0" i="0">
                <a:solidFill>
                  <a:srgbClr val="F4F6F8"/>
                </a:solidFill>
                <a:latin typeface="Helvetica Neue"/>
              </a:rPr>
              <a:t>, a working US private-investigations practice, and used there to carry federal cases </a:t>
            </a:r>
            <a:r>
              <a:rPr sz="1300" b="1" i="0">
                <a:solidFill>
                  <a:srgbClr val="F4F6F8"/>
                </a:solidFill>
                <a:latin typeface="Helvetica Neue"/>
              </a:rPr>
              <a:t>to completion</a:t>
            </a:r>
            <a:r>
              <a:rPr sz="1300" b="0" i="0">
                <a:solidFill>
                  <a:srgbClr val="F4F6F8"/>
                </a:solidFill>
                <a:latin typeface="Helvetica Neue"/>
              </a:rPr>
              <a:t> — multi-gigabyte phone extractions, tens of thousands of curated financial transactions, full document corpora. </a:t>
            </a:r>
            <a:r>
              <a:rPr sz="1300" b="1" i="0">
                <a:solidFill>
                  <a:srgbClr val="F4F6F8"/>
                </a:solidFill>
                <a:latin typeface="Helvetica Neue"/>
              </a:rPr>
              <a:t>Three attorneys on those cases have been given access to it.</a:t>
            </a:r>
            <a:r>
              <a:rPr sz="1300" b="0" i="0">
                <a:solidFill>
                  <a:srgbClr val="F4F6F8"/>
                </a:solidFill>
                <a:latin typeface="Helvetica Neue"/>
              </a:rPr>
              <a:t> Attorneys have retained the practice specifically because of the platform — unprompted, before any marketing existed.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500" b="1" i="0">
                <a:solidFill>
                  <a:srgbClr val="E8B339"/>
                </a:solidFill>
                <a:latin typeface="Helvetica Neue"/>
              </a:rPr>
              <a:t>This is not a prototype seeking a first user. It is an application that works, in the hands of the investigators it was built for, on cases with real stakes.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300" b="1" i="0">
                <a:solidFill>
                  <a:srgbClr val="F4F6F8"/>
                </a:solidFill>
                <a:latin typeface="Helvetica Neue"/>
              </a:rPr>
              <a:t>First external pilot in motion.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9AA7B4"/>
                </a:solidFill>
                <a:latin typeface="Helvetica Neue"/>
              </a:rPr>
              <a:t>A US private-investigations firm led by a former FBI undercover agent — clients across Miami, New York, California and the Midwest — has agreed to send its next large-document matter through Loupe as a paid trial at cost, and to put a mutual MSA in front of us. Sourced through casework, not marketing.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2057400"/>
            <a:ext cx="452628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339"/>
                </a:solidFill>
                <a:latin typeface="Helvetica Neue"/>
              </a:rPr>
              <a:t>Built so far, verifiable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8B339"/>
                </a:solidFill>
                <a:latin typeface="Helvetica Neue"/>
              </a:rPr>
              <a:t>—   </a:t>
            </a:r>
            <a:r>
              <a:rPr sz="1200" b="0" i="0">
                <a:solidFill>
                  <a:srgbClr val="9AA7B4"/>
                </a:solidFill>
                <a:latin typeface="Helvetica Neue"/>
              </a:rPr>
              <a:t>~180,000 lines across a React console, a FastAPI case API and a separate asynchronous evidence engine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8B339"/>
                </a:solidFill>
                <a:latin typeface="Helvetica Neue"/>
              </a:rPr>
              <a:t>—   </a:t>
            </a:r>
            <a:r>
              <a:rPr sz="1200" b="0" i="0">
                <a:solidFill>
                  <a:srgbClr val="9AA7B4"/>
                </a:solidFill>
                <a:latin typeface="Helvetica Neue"/>
              </a:rPr>
              <a:t>913 commits since December 2025 — two primary engineers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8B339"/>
                </a:solidFill>
                <a:latin typeface="Helvetica Neue"/>
              </a:rPr>
              <a:t>—   </a:t>
            </a:r>
            <a:r>
              <a:rPr sz="1200" b="0" i="0">
                <a:solidFill>
                  <a:srgbClr val="9AA7B4"/>
                </a:solidFill>
                <a:latin typeface="Helvetica Neue"/>
              </a:rPr>
              <a:t>Neo4j (case graph) · Postgres (cases, auth, audit) · ChromaDB (retrieval) · Redis (jobs)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8B339"/>
                </a:solidFill>
                <a:latin typeface="Helvetica Neue"/>
              </a:rPr>
              <a:t>—   </a:t>
            </a:r>
            <a:r>
              <a:rPr sz="1200" b="0" i="0">
                <a:solidFill>
                  <a:srgbClr val="9AA7B4"/>
                </a:solidFill>
                <a:latin typeface="Helvetica Neue"/>
              </a:rPr>
              <a:t>Three AI providers behind one routing policy — the model is a swappable component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8B339"/>
                </a:solidFill>
                <a:latin typeface="Helvetica Neue"/>
              </a:rPr>
              <a:t>—   </a:t>
            </a:r>
            <a:r>
              <a:rPr sz="1200" b="0" i="0">
                <a:solidFill>
                  <a:srgbClr val="9AA7B4"/>
                </a:solidFill>
                <a:latin typeface="Helvetica Neue"/>
              </a:rPr>
              <a:t>Single-tenant deployment: one isolated stack per customer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200" b="1" i="0">
                <a:solidFill>
                  <a:srgbClr val="E8B339"/>
                </a:solidFill>
                <a:latin typeface="Helvetica Neue"/>
              </a:rPr>
              <a:t>Release discipline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F4F6F8"/>
                </a:solidFill>
                <a:latin typeface="Helvetica Neue"/>
              </a:rPr>
              <a:t>Onboarding an external customer's evidence runs behind a </a:t>
            </a:r>
            <a:r>
              <a:rPr sz="1200" b="1" i="0">
                <a:solidFill>
                  <a:srgbClr val="F4F6F8"/>
                </a:solidFill>
                <a:latin typeface="Helvetica Neue"/>
              </a:rPr>
              <a:t>12-stage security-gated release plan. No external case data enters the platform until the security, isolation, backup and legal stages pass.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A7B4"/>
                </a:solidFill>
                <a:latin typeface="Helvetica Neue"/>
              </a:rPr>
              <a:t>Roadmap: a 13-epic board takes Loupe from a platform that works for the practice it was built in to one that scales across many. Depth, not existence.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Helvetica Neue"/>
              </a:defRPr>
            </a:pPr>
            <a:r>
              <a:rPr sz="1100" b="1" i="0">
                <a:solidFill>
                  <a:srgbClr val="E8B339"/>
                </a:solidFill>
                <a:latin typeface="Helvetica Neue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4F6F8"/>
                </a:solidFill>
                <a:latin typeface="Helvetica Neue"/>
              </a:rPr>
              <a:t>€100k. What it buys: the first paying customer
outside the practice that built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8B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57607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4F6F8"/>
                </a:solidFill>
                <a:latin typeface="Helvetica Neue"/>
              </a:rPr>
              <a:t>The platform works and has closed real federal cases. What stands between it and external revenue is the </a:t>
            </a:r>
            <a:r>
              <a:rPr sz="1600" b="1" i="0">
                <a:solidFill>
                  <a:srgbClr val="F4F6F8"/>
                </a:solidFill>
                <a:latin typeface="Helvetica Neue"/>
              </a:rPr>
              <a:t>security gate</a:t>
            </a:r>
            <a:r>
              <a:rPr sz="1600" b="0" i="0">
                <a:solidFill>
                  <a:srgbClr val="F4F6F8"/>
                </a:solidFill>
                <a:latin typeface="Helvetica Neue"/>
              </a:rPr>
              <a:t> — the isolation, backup and legal stages that let another firm's privileged evidence enter the system — and the pilot itself.</a:t>
            </a:r>
          </a:p>
          <a:p>
            <a:pPr algn="l">
              <a:lnSpc>
                <a:spcPct val="128000"/>
              </a:lnSpc>
              <a:spcBef>
                <a:spcPts val="1800"/>
              </a:spcBef>
              <a:spcAft>
                <a:spcPts val="0"/>
              </a:spcAft>
            </a:pPr>
            <a:r>
              <a:rPr sz="1300" b="1" i="0">
                <a:solidFill>
                  <a:srgbClr val="E8B339"/>
                </a:solidFill>
                <a:latin typeface="Helvetica Neue"/>
              </a:rPr>
              <a:t>Use of funds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500" b="0" i="0">
                <a:solidFill>
                  <a:srgbClr val="F4F6F8"/>
                </a:solidFill>
                <a:latin typeface="Helvetica Neue"/>
              </a:rPr>
              <a:t>Two founders full-time, clearing those gates, and running the agreed pilot to a signed contract. </a:t>
            </a:r>
            <a:r>
              <a:rPr sz="1500" b="1" i="0">
                <a:solidFill>
                  <a:srgbClr val="F4F6F8"/>
                </a:solidFill>
                <a:latin typeface="Helvetica Neue"/>
              </a:rPr>
              <a:t>The pilot candidate is already secured.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95160" y="2286000"/>
            <a:ext cx="44348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339"/>
                </a:solidFill>
                <a:latin typeface="Helvetica Neue"/>
              </a:rPr>
              <a:t>What we want from NDRC beyond capital</a:t>
            </a:r>
          </a:p>
          <a:p>
            <a:pPr algn="l" marL="274320" indent="-274320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1">
                <a:solidFill>
                  <a:srgbClr val="E8B339"/>
                </a:solidFill>
                <a:latin typeface="Helvetica Neue"/>
              </a:rPr>
              <a:t>—   </a:t>
            </a:r>
            <a:r>
              <a:rPr sz="1400" b="0" i="0">
                <a:solidFill>
                  <a:srgbClr val="F4F6F8"/>
                </a:solidFill>
                <a:latin typeface="Helvetica Neue"/>
              </a:rPr>
              <a:t>Dublin base at Dogpatch Labs</a:t>
            </a:r>
          </a:p>
          <a:p>
            <a:pPr algn="l" marL="274320" indent="-274320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1">
                <a:solidFill>
                  <a:srgbClr val="E8B339"/>
                </a:solidFill>
                <a:latin typeface="Helvetica Neue"/>
              </a:rPr>
              <a:t>—   </a:t>
            </a:r>
            <a:r>
              <a:rPr sz="1400" b="0" i="0">
                <a:solidFill>
                  <a:srgbClr val="F4F6F8"/>
                </a:solidFill>
                <a:latin typeface="Helvetica Neue"/>
              </a:rPr>
              <a:t>EIR time on pricing and enterprise sales motion</a:t>
            </a:r>
          </a:p>
          <a:p>
            <a:pPr algn="l" marL="274320" indent="-274320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1">
                <a:solidFill>
                  <a:srgbClr val="E8B339"/>
                </a:solidFill>
                <a:latin typeface="Helvetica Neue"/>
              </a:rPr>
              <a:t>—   </a:t>
            </a:r>
            <a:r>
              <a:rPr sz="1400" b="0" i="0">
                <a:solidFill>
                  <a:srgbClr val="F4F6F8"/>
                </a:solidFill>
                <a:latin typeface="Helvetica Neue"/>
              </a:rPr>
              <a:t>Introductions into Irish and UK professional-services buyers — ACFE Ireland, Chartered Accountants Ireland forensic group, Law Society criminal law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0644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8B339"/>
                </a:solidFill>
                <a:latin typeface="Helvetica Neue"/>
              </a:rPr>
              <a:t>We are not asking anyone to fund the invention of a product. We are asking them to fund the distance between </a:t>
            </a:r>
            <a:r>
              <a:rPr sz="1700" b="1" i="0">
                <a:solidFill>
                  <a:srgbClr val="E8B339"/>
                </a:solidFill>
                <a:latin typeface="Helvetica Neue"/>
              </a:rPr>
              <a:t>works</a:t>
            </a:r>
            <a:r>
              <a:rPr sz="1700" b="1" i="0">
                <a:solidFill>
                  <a:srgbClr val="E8B339"/>
                </a:solidFill>
                <a:latin typeface="Helvetica Neue"/>
              </a:rPr>
              <a:t> and </a:t>
            </a:r>
            <a:r>
              <a:rPr sz="1700" b="1" i="0">
                <a:solidFill>
                  <a:srgbClr val="E8B339"/>
                </a:solidFill>
                <a:latin typeface="Helvetica Neue"/>
              </a:rPr>
              <a:t>sold.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