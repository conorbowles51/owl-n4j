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is submitted as a PDF and read without anyone in the room —</a:t>
            </a:r>
          </a:p>
          <a:p>
            <a:r>
              <a:t>the form has no essay questions, so the cover is the highest-attention moment in the</a:t>
            </a:r>
          </a:p>
          <a:p>
            <a:r>
              <a:t>whole application and it has to earn the next page.</a:t>
            </a:r>
          </a:p>
          <a:p/>
          <a:p>
            <a:r>
              <a:t>"Find the signal in everything" is the tagline and it sits under the wordmark, where a</a:t>
            </a:r>
          </a:p>
          <a:p>
            <a:r>
              <a:t>tagline belongs.</a:t>
            </a:r>
          </a:p>
          <a:p/>
          <a:p>
            <a:r>
              <a:t>The two display lines are one statement in two parts, and the order matters. The first</a:t>
            </a:r>
          </a:p>
          <a:p>
            <a:r>
              <a:t>says what Loupe IS, so a reader who knows nothing has something to hold. The second is</a:t>
            </a:r>
          </a:p>
          <a:p>
            <a:r>
              <a:t>the argument, and it frames every slide that follows — it is also the line the whole</a:t>
            </a:r>
          </a:p>
          <a:p>
            <a:r>
              <a:t>competitive analysis is built on. Read the other way round, the argument arrives before</a:t>
            </a:r>
          </a:p>
          <a:p>
            <a:r>
              <a:t>the reader knows what they are looking at.</a:t>
            </a:r>
          </a:p>
          <a:p/>
          <a:p>
            <a:r>
              <a:t>"In production use on real federal matters" is on the cover deliberately. A cold reader</a:t>
            </a:r>
          </a:p>
          <a:p>
            <a:r>
              <a:t>deciding whether to keep going is helped more by knowing this is not a concept than by</a:t>
            </a:r>
          </a:p>
          <a:p>
            <a:r>
              <a:t>anything else we could put there.</a:t>
            </a:r>
          </a:p>
          <a:p/>
          <a:p>
            <a:r>
              <a:t>If you ever present this live, drop to the tagline alone and say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THE SPOKEN CLOSE — for a live presentation, not for the PDF.</a:t>
            </a:r>
          </a:p>
          <a:p>
            <a:r>
              <a:t>The slide used to end on "we are not asking anyone to fund the invention of a</a:t>
            </a:r>
          </a:p>
          <a:p>
            <a:r>
              <a:t>product; we are asking them to fund the distance between works and sold." It</a:t>
            </a:r>
          </a:p>
          <a:p>
            <a:r>
              <a:t>was cut: it opens on a negative, and the metaphor needs a beat of explanation</a:t>
            </a:r>
          </a:p>
          <a:p>
            <a:r>
              <a:t>that a cold reader will not give it. The headline already states the ask</a:t>
            </a:r>
          </a:p>
          <a:p>
            <a:r>
              <a:t>positively. Say it aloud instead, if the room is right for it:</a:t>
            </a:r>
          </a:p>
          <a:p/>
          <a:p>
            <a:r>
              <a:t>  What we're asking you to fund is the distance between works and sold.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017520"/>
            <a:ext cx="1063721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2700" b="1" i="0">
                <a:solidFill>
                  <a:srgbClr val="F7F7F8"/>
                </a:solidFill>
                <a:latin typeface="Space Grotesk"/>
              </a:rPr>
              <a:t>An investigation platform for evidence-heavy casework.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700" b="0" i="0">
                <a:solidFill>
                  <a:srgbClr val="F7F7F8"/>
                </a:solidFill>
                <a:latin typeface="Space Grotesk"/>
              </a:rPr>
              <a:t>Everyone can cite a document. Nobody can query a case.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In production use on real federal matters.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603504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Relativity's own processing documentation says call logs emerge “only as call log data in Excel format, not as individual records,” and that multi-device extractions are unsupported. Everlaw splits conversations every thousand messages; Reveal slices them into 24-hour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Relativity folded aiR into its base rate in November 2025; Everlaw bundled three AI features into core pricing the same month; DISCO announced agentic AI at no extra cost in February 2026.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it, not a sample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50992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models all of it — and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across thirty capability axes.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Cellebrite · Magnet · Palantir · Pathfinder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They own the extraction and build real graphs. Pathfinder is sold only to law enforcement and intelligence; GrayKey not to the private sector at all. What a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Relativity · Everlaw · DISCO · Reveal · Harvey · CoCounsel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TrialKit · Matey · JusticeText · Longeye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Four funded companies selling AI to criminal defence, $2.5M–$7.5M seed each, with the bar associations and the certifications.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All four answer by retrieval — which returns what looked relevant and cannot tell you what it missed.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On a defence matter the thing you never saw is the thing that loses the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68112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</a:t>
            </a:r>
            <a:r>
              <a:rPr sz="1450" b="0" i="0">
                <a:solidFill>
                  <a:srgbClr val="F7F7F8"/>
                </a:solidFill>
                <a:latin typeface="IBM Plex Sans"/>
              </a:rPr>
              <a:t> — and that is structural, not an accident of scoring. Modelling evidence and serving this buyer are different problems sold to different customers.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How many of them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48,000–125,000 evidence-heavy private criminal-defence matters run in the US every year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, across a target population of one to five thousand practices. The UK adds ~80,200 open Crown Court cases, rising.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buyer receives evidence, cannot collect it, and cannot buy the analytics the other side runs 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That is the whole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an evidence-heavy case costs $38k–$139k.
With Loupe, $16k–$20k.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ten-device federal case with a document production.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evidence-heavy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$130,575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$139,025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$20,450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$22,000–$119,000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evidence-heavy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$0.6M–$1.4M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6188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7F7F8"/>
                </a:solidFill>
                <a:latin typeface="IBM Plex Sans"/>
              </a:rPr>
              <a:t>Each stage is gated on one thing, which is what makes the sequence testable.</a:t>
            </a:r>
            <a:r>
              <a:rPr sz="1250" b="0" i="0">
                <a:solidFill>
                  <a:srgbClr val="F7F7F8"/>
                </a:solidFill>
                <a:latin typeface="IBM Plex Sans"/>
              </a:rPr>
              <a:t> Stage 1: a price validated on real matters. Stage 2: the bar-association channel converting. Stage 3: the per-matter model rebuilt on UK vendor and Legal Aid Agency rates. Stage 4: partners, because every jurisdiction carries its own procedure and disclosure regime.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just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533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Federal cases carried to completion — multi-gigabyte phone extractions, tens of thousands of curated financial transactions, full document corpora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A React console, a FastAPI case API and a separate asynchronous evidence engine, built since December 2025 by two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64992"/>
            <a:ext cx="5806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across pilot matters — the cost model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