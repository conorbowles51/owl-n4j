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 and it sits under the wordmark, where a</a:t>
            </a:r>
          </a:p>
          <a:p>
            <a:r>
              <a:t>tagline belongs.</a:t>
            </a:r>
          </a:p>
          <a:p/>
          <a:p>
            <a:r>
              <a:t>The two display lines are one statement in two parts, and the order matters. The first</a:t>
            </a:r>
          </a:p>
          <a:p>
            <a:r>
              <a:t>says what Loupe IS, so a reader who knows nothing has something to hold. The second is</a:t>
            </a:r>
          </a:p>
          <a:p>
            <a:r>
              <a:t>the argument, and it frames every slide that follows — it is also the line the whole</a:t>
            </a:r>
          </a:p>
          <a:p>
            <a:r>
              <a:t>competitive analysis is built on. Read the other way round, the argument arrives before</a:t>
            </a:r>
          </a:p>
          <a:p>
            <a:r>
              <a:t>the reader knows what they are looking at.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THE SPOKEN CLOSE — for a live presentation, not for the PDF.</a:t>
            </a:r>
          </a:p>
          <a:p>
            <a:r>
              <a:t>The slide used to end on "we are not asking anyone to fund the invention of a</a:t>
            </a:r>
          </a:p>
          <a:p>
            <a:r>
              <a:t>product; we are asking them to fund the distance between works and sold." It</a:t>
            </a:r>
          </a:p>
          <a:p>
            <a:r>
              <a:t>was cut: it opens on a negative, and the metaphor needs a beat of explanation</a:t>
            </a:r>
          </a:p>
          <a:p>
            <a:r>
              <a:t>that a cold reader will not give it. The headline already states the ask</a:t>
            </a:r>
          </a:p>
          <a:p>
            <a:r>
              <a:t>positively. Say it aloud instead, if the room is right for it:</a:t>
            </a:r>
          </a:p>
          <a:p/>
          <a:p>
            <a:r>
              <a:t>  What we're asking you to fund is the distance between works and sold.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017520"/>
            <a:ext cx="1063721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2700" b="1" i="0">
                <a:solidFill>
                  <a:srgbClr val="F7F7F8"/>
                </a:solidFill>
                <a:latin typeface="Space Grotesk"/>
              </a:rPr>
              <a:t>An investigation platform for evidence-heavy casework.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700" b="0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The document-review platforms say so in their own documentation: call logs export “only as call log data in Excel format, not as individual records”; multi-device extractions unsupported; conversations cut into fixed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In four months the major review platforms folded AI into base pricing at no extra cost.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One caps at 300,000 documents per index; another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across thirty capability axes.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Forensic &amp; intelligence platforms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The analytical tiers are sold to law enforcement and intelligence only; the leading unlocking hardware is not available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Document review &amp; legal AI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Defence-native AI startups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 AI to criminal defence, $2.5M–$7.5M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platforms are sold with configuration and support attached — the right model for agencies and large institutions, who arrive with budget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volumes,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Second market — corporate intelligence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Investigative consultancies: fraud, corruption, asset tracing. Their process is scope, collect, corroborate, analyse, report —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and the last three stages are junior-analyst hours in Excel.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Second-best fit of the seventeen buyers we scored.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The spend is already there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Junior analysts bill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$300–$500/hour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; a six-week team of four bills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$150k–$250k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. Corporate investigation services: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$4.8B today, $9.7B by 2035.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Not new budget — hours already billed.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How many, and how to reach them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48,000–125,000 evidence-heavy US criminal-defence matters a year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, across one to five thousand practices; the UK adds ~80,200 open Crown Court cases. Both buyers are organised — ACFE alone has ~95k members.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buyer receives evidence, cannot collect it, and cannot buy the analytics the other side runs 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That is the whole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an evidence-heavy case costs $38k–$139k.
With Loupe, $16k–$20k.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ten-device federal case with a document production.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evidence-heavy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$130,575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$139,025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$20,450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$22,000–$119,000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evidence-heavy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$0.6M–$1.4M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6188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7F8"/>
                </a:solidFill>
                <a:latin typeface="IBM Plex Sans"/>
              </a:rPr>
              <a:t>Each stage is gated on one thing, which is what makes the sequence testable.</a:t>
            </a:r>
            <a:r>
              <a:rPr sz="1250" b="0" i="0">
                <a:solidFill>
                  <a:srgbClr val="F7F7F8"/>
                </a:solidFill>
                <a:latin typeface="IBM Plex Sans"/>
              </a:rPr>
              <a:t> Stage 1: a price validated on real matters. Stage 2: the bar-association channel converting. Stage 3: the per-matter model rebuilt on UK vendor and Legal Aid Agency rates. Stage 4: partners, because every jurisdiction carries its own procedure and disclosure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just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64992"/>
            <a:ext cx="5806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