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is submitted as a PDF and read without anyone in the room —</a:t>
            </a:r>
          </a:p>
          <a:p>
            <a:r>
              <a:t>the form has no essay questions, so the cover is the highest-attention moment in the</a:t>
            </a:r>
          </a:p>
          <a:p>
            <a:r>
              <a:t>whole application and it has to earn the next page.</a:t>
            </a:r>
          </a:p>
          <a:p/>
          <a:p>
            <a:r>
              <a:t>The descriptor opens: a cold reader learns what Loupe IS in the first line, before any</a:t>
            </a:r>
          </a:p>
          <a:p>
            <a:r>
              <a:t>argument is made. "Everyone can cite a document. Nobody can query a case." is the</a:t>
            </a:r>
          </a:p>
          <a:p>
            <a:r>
              <a:t>argument, and it frames every slide that follows — it sits underneath as the subheader.</a:t>
            </a:r>
          </a:p>
          <a:p/>
          <a:p>
            <a:r>
              <a:t>"In production use on real federal matters" is on the cover deliberately. A cold reader</a:t>
            </a:r>
          </a:p>
          <a:p>
            <a:r>
              <a:t>deciding whether to keep going is helped more by knowing this is not a concept than by</a:t>
            </a:r>
          </a:p>
          <a:p>
            <a:r>
              <a:t>anything else we could put there.</a:t>
            </a:r>
          </a:p>
          <a:p/>
          <a:p>
            <a:r>
              <a:t>"Find the signal in everything" is the tagline and closes the cover.</a:t>
            </a:r>
          </a:p>
          <a:p/>
          <a:p>
            <a:r>
              <a:t>If you ever present this live, drop to the tagline alone and say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the right to slide 4. Do not skip it.</a:t>
            </a:r>
          </a:p>
          <a:p/>
          <a:p>
            <a:r>
              <a:t>The two-halves finding is the whole competitive argument and it is structural, not a</a:t>
            </a:r>
          </a:p>
          <a:p>
            <a:r>
              <a:t>scoring artifact. Say the last line slowly — it converts the analysis from research</a:t>
            </a:r>
          </a:p>
          <a:p>
            <a:r>
              <a:t>into experience, and it is the one claim a panel cannot discount.</a:t>
            </a:r>
          </a:p>
          <a:p/>
          <a:p>
            <a:r>
              <a:t>If asked "who is the closest competitor?" the answer is Matey: same buyer, sells</a:t>
            </a:r>
          </a:p>
          <a:p>
            <a:r>
              <a:t>through NACDL and a state defence bar, holds SOC 2 Type II and ISO 27001 today. Say</a:t>
            </a:r>
          </a:p>
          <a:p>
            <a:r>
              <a:t>that before they find it. Then: none of the four has a graph, and that is eighteen</a:t>
            </a:r>
          </a:p>
          <a:p>
            <a:r>
              <a:t>months of work they can afford — which is exactly why the pilot and the certification</a:t>
            </a:r>
          </a:p>
          <a:p>
            <a:r>
              <a:t>work in the ask are urgent rather than nice to have.</a:t>
            </a:r>
          </a:p>
          <a:p/>
          <a:p>
            <a:r>
              <a:t>If asked about Harvey: over $1B raised, priced for the AmLaw 100 at ~$360k seat</a:t>
            </a:r>
          </a:p>
          <a:p>
            <a:r>
              <a:t>minimums, no evidence model. Not our fight and not our buyer.</a:t>
            </a:r>
          </a:p>
          <a:p/>
          <a:p>
            <a:r>
              <a:t>Do not name Siren here. If it comes up, it is a compliment: built for enterprise LE</a:t>
            </a:r>
          </a:p>
          <a:p>
            <a:r>
              <a:t>and intelligence buyers who come with solutions engineering attached, and good at</a:t>
            </a:r>
          </a:p>
          <a:p>
            <a:r>
              <a:t>that. A fifteen-person practice cannot buy the engineer — that tier is what we 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THE SPOKEN CLOSE — for a live presentation, not for the PDF.</a:t>
            </a:r>
          </a:p>
          <a:p>
            <a:r>
              <a:t>The slide used to end on "we are not asking anyone to fund the invention of a</a:t>
            </a:r>
          </a:p>
          <a:p>
            <a:r>
              <a:t>product; we are asking them to fund the distance between works and sold." It</a:t>
            </a:r>
          </a:p>
          <a:p>
            <a:r>
              <a:t>was cut: it opens on a negative, and the metaphor needs a beat of explanation</a:t>
            </a:r>
          </a:p>
          <a:p>
            <a:r>
              <a:t>that a cold reader will not give it. The headline already states the ask</a:t>
            </a:r>
          </a:p>
          <a:p>
            <a:r>
              <a:t>positively. Say it aloud instead, if the room is right for it:</a:t>
            </a:r>
          </a:p>
          <a:p/>
          <a:p>
            <a:r>
              <a:t>  What we're asking you to fund is the distance between works and sold.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127248"/>
            <a:ext cx="1063721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An investigation platform for
fraud and criminal casework.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2000" b="0" i="0">
                <a:solidFill>
                  <a:srgbClr val="BFC1C8"/>
                </a:solidFill>
                <a:latin typeface="IBM Plex Sans"/>
              </a:rPr>
              <a:t>Everyone can cite a document. Nobody can query a case.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In production use on real federal matters.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603504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19963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Relativity's own processing documentation says call logs emerge “only as call log data in Excel format, not as individual records,” and that multi-device extractions are unsupported. Everlaw splits conversations every thousand messages; Reveal slices them into 24-hour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Relativity folded aiR into its base rate in November 2025; Everlaw bundled three AI features into core pricing the same month; DISCO announced agentic AI at no extra cost in February 2026.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a model of the whole case and returns the complete matching set — every claim cited, and the citation covers all of it, not a sample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50992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models all of it — and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Forty-seven platforms. The intersection is empty.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We assessed the category across thirty capability axes. It splits into two halves that never meet — and the buyer sits in the gap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 model the evidence — and won't sell it to you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Cellebrite · Magnet · Palantir · Pathfinder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They own the extraction and build real graphs. Pathfinder is sold only to law enforcement and intelligence; GrayKey not to the private sector at all. What a practice can buy is examiner tooling — five kinds of device, no kinds of document.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They'll sell to you — and treat a phone as an attachment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Relativity · Everlaw · DISCO · Reveal · Harvey · CoCounsel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Excellent at documents, purchasable, and the phone data does not survive the door. Call logs emerge as Excel, conversations are split every thousand messages, multi-device extractions are unsupported.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Same buyer as us — and no case model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TrialKit · Matey · JusticeText · Longeye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Four funded companies selling AI to criminal defence, $2.5M–$7.5M seed each, with the bar associations and the certifications.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None of them has a graph.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All four answer by retrieval — which returns what looked relevant and cannot tell you what it missed.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On a defence matter the thing you never saw is the thing that loses the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68112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7F7F8"/>
                </a:solidFill>
                <a:latin typeface="IBM Plex Sans"/>
              </a:rPr>
              <a:t>Not one of the forty-seven holds device data, financial records and documents in a single model</a:t>
            </a:r>
            <a:r>
              <a:rPr sz="1450" b="0" i="0">
                <a:solidFill>
                  <a:srgbClr val="F7F7F8"/>
                </a:solidFill>
                <a:latin typeface="IBM Plex Sans"/>
              </a:rPr>
              <a:t> — and that is structural, not an accident of scoring. Modelling evidence and serving this buyer are different problems sold to different customers.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1" i="0">
                <a:solidFill>
                  <a:srgbClr val="E33B4C"/>
                </a:solidFill>
                <a:latin typeface="IBM Plex Sans"/>
              </a:rPr>
              <a:t>We know because we went looking for a platform to run live federal casework,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How many of them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48,000–125,000 evidence-heavy private criminal-defence matters run in the US every year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, across a target population of one to five thousand practices. The UK adds ~80,200 open Crown Court cases, rising.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buyer receives evidence, cannot collect it, and cannot buy the analytics the other side runs 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That is the whole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an evidence-heavy case costs $38k–$139k.
With Loupe, $16k–$20k.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ten-device federal case with a document production.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evidence-heavy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$8,450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$8,450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$130,575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$139,025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$20,450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$22,000–$119,000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evidence-heavy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$0.6M–$1.4M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6188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7F7F8"/>
                </a:solidFill>
                <a:latin typeface="IBM Plex Sans"/>
              </a:rPr>
              <a:t>Each stage is gated on one thing, which is what makes the sequence testable.</a:t>
            </a:r>
            <a:r>
              <a:rPr sz="1250" b="0" i="0">
                <a:solidFill>
                  <a:srgbClr val="F7F7F8"/>
                </a:solidFill>
                <a:latin typeface="IBM Plex Sans"/>
              </a:rPr>
              <a:t> Stage 1: a price validated on real matters. Stage 2: the bar-association channel converting. Stage 3: the per-matter model rebuilt on UK vendor and Legal Aid Agency rates. Stage 4: partners, because every jurisdiction carries its own procedure and disclosure regime.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just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533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Federal cases carried to completion — multi-gigabyte phone extractions, tens of thousands of curated financial transactions, full document corpora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A React console, a FastAPI case API and a separate asynchronous evidence engine, built since December 2025 by two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64992"/>
            <a:ext cx="5806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across pilot matters — the cost model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